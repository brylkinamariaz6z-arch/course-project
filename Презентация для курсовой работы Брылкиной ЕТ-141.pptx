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8" r:id="rId2"/>
    <p:sldId id="292" r:id="rId3"/>
    <p:sldId id="291" r:id="rId4"/>
    <p:sldId id="297" r:id="rId5"/>
    <p:sldId id="298" r:id="rId6"/>
    <p:sldId id="311" r:id="rId7"/>
    <p:sldId id="315" r:id="rId8"/>
    <p:sldId id="316" r:id="rId9"/>
    <p:sldId id="332" r:id="rId10"/>
    <p:sldId id="330" r:id="rId11"/>
    <p:sldId id="335" r:id="rId12"/>
    <p:sldId id="329" r:id="rId13"/>
    <p:sldId id="339" r:id="rId14"/>
    <p:sldId id="342" r:id="rId15"/>
    <p:sldId id="340" r:id="rId16"/>
    <p:sldId id="349" r:id="rId17"/>
    <p:sldId id="343" r:id="rId18"/>
    <p:sldId id="341" r:id="rId19"/>
    <p:sldId id="344" r:id="rId20"/>
    <p:sldId id="346" r:id="rId21"/>
    <p:sldId id="347" r:id="rId22"/>
    <p:sldId id="348" r:id="rId23"/>
    <p:sldId id="290" r:id="rId24"/>
    <p:sldId id="319" r:id="rId25"/>
    <p:sldId id="331" r:id="rId26"/>
    <p:sldId id="320" r:id="rId27"/>
    <p:sldId id="350" r:id="rId28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C28A6DE-7017-454E-A084-68DC268F6869}">
          <p14:sldIdLst>
            <p14:sldId id="288"/>
            <p14:sldId id="292"/>
          </p14:sldIdLst>
        </p14:section>
        <p14:section name="Табличные данные" id="{25D1F10B-6325-41AD-904C-A2CA9A92E4E8}">
          <p14:sldIdLst>
            <p14:sldId id="291"/>
            <p14:sldId id="297"/>
            <p14:sldId id="298"/>
            <p14:sldId id="311"/>
            <p14:sldId id="315"/>
          </p14:sldIdLst>
        </p14:section>
        <p14:section name="Временые ряды" id="{3AE7C1E3-1928-4BDB-8B2C-A89BE33DCA8B}">
          <p14:sldIdLst>
            <p14:sldId id="316"/>
            <p14:sldId id="332"/>
            <p14:sldId id="330"/>
            <p14:sldId id="335"/>
            <p14:sldId id="329"/>
          </p14:sldIdLst>
        </p14:section>
        <p14:section name="Изображения" id="{39ABE287-7877-479D-9E3F-C54EE1F30CAB}">
          <p14:sldIdLst>
            <p14:sldId id="339"/>
            <p14:sldId id="342"/>
            <p14:sldId id="340"/>
            <p14:sldId id="349"/>
            <p14:sldId id="343"/>
          </p14:sldIdLst>
        </p14:section>
        <p14:section name="Текстовые данные" id="{9D11603F-B6BC-4BCF-89B9-525289E13CA9}">
          <p14:sldIdLst>
            <p14:sldId id="341"/>
            <p14:sldId id="344"/>
            <p14:sldId id="346"/>
            <p14:sldId id="347"/>
            <p14:sldId id="348"/>
          </p14:sldIdLst>
        </p14:section>
        <p14:section name="Заключение" id="{272700DB-0FD2-4669-BCE7-CC408827A34D}">
          <p14:sldIdLst>
            <p14:sldId id="290"/>
          </p14:sldIdLst>
        </p14:section>
        <p14:section name="Доп. слайды (табличные данные)" id="{72A6853E-2CE2-4393-A1B4-BC229A55D177}">
          <p14:sldIdLst>
            <p14:sldId id="319"/>
          </p14:sldIdLst>
        </p14:section>
        <p14:section name="Доп. слайды (временные ряды)" id="{DADB5037-6CFB-418F-978F-7353CA81D87F}">
          <p14:sldIdLst>
            <p14:sldId id="331"/>
            <p14:sldId id="320"/>
          </p14:sldIdLst>
        </p14:section>
        <p14:section name="Доп. слайды (текстовые данные)" id="{09F74E25-D25E-401B-80A7-F6B5F98B6289}">
          <p14:sldIdLst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7F7"/>
    <a:srgbClr val="FFEFEF"/>
    <a:srgbClr val="FFE1E1"/>
    <a:srgbClr val="EFD6C3"/>
    <a:srgbClr val="8D99A7"/>
    <a:srgbClr val="DCDCDC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87791" autoAdjust="0"/>
  </p:normalViewPr>
  <p:slideViewPr>
    <p:cSldViewPr snapToGrid="0">
      <p:cViewPr varScale="1">
        <p:scale>
          <a:sx n="50" d="100"/>
          <a:sy n="50" d="100"/>
        </p:scale>
        <p:origin x="34" y="61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784" y="72"/>
      </p:cViewPr>
      <p:guideLst/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79315C84-EE52-4AD5-8C54-DDD3E354D8A4}" type="datetimeFigureOut">
              <a:rPr lang="ru-RU"/>
              <a:pPr>
                <a:defRPr/>
              </a:pPr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EC040E5F-2643-45B4-A9BD-CFE6291A48B1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8864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9D2B60AF-714F-4A51-9ED9-26D63D5F6FA8}" type="datetimeFigureOut">
              <a:rPr lang="ru-RU"/>
              <a:pPr>
                <a:defRPr/>
              </a:pPr>
              <a:t>09.06.2026</a:t>
            </a:fld>
            <a:endParaRPr lang="ru-RU"/>
          </a:p>
        </p:txBody>
      </p:sp>
      <p:sp>
        <p:nvSpPr>
          <p:cNvPr id="3076" name="Образ слайда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Заметки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https://github.com/MyPowerIsDivine/CourseWork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7AE935F4-122E-4717-A0F2-34B38B06B6CB}" type="slidenum">
              <a:rPr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07445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979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2566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77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77028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4674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58724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4036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86877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35F4-122E-4717-A0F2-34B38B06B6CB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307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001888"/>
            <a:ext cx="12192000" cy="1699260"/>
          </a:xfrm>
        </p:spPr>
        <p:txBody>
          <a:bodyPr anchor="ctr"/>
          <a:lstStyle>
            <a:lvl1pPr algn="ctr">
              <a:defRPr sz="4000" b="1">
                <a:latin typeface="+mn-lt"/>
              </a:defRPr>
            </a:lvl1pPr>
          </a:lstStyle>
          <a:p>
            <a:r>
              <a:rPr lang="ru-RU" noProof="1" smtClean="0"/>
              <a:t>Название работы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80212"/>
            <a:ext cx="12192000" cy="365125"/>
          </a:xfrm>
        </p:spPr>
        <p:txBody>
          <a:bodyPr/>
          <a:lstStyle>
            <a:lvl1pPr algn="ctr"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 altLang="zh-CN" smtClean="0">
                <a:cs typeface="等线"/>
              </a:rPr>
              <a:t>Челябинск, 2026 г.</a:t>
            </a:r>
            <a:endParaRPr lang="ru-RU" altLang="zh-CN" dirty="0" smtClean="0">
              <a:cs typeface="等线"/>
            </a:endParaRPr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0" y="34832"/>
            <a:ext cx="12192000" cy="1653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eaLnBrk="1" fontAlgn="auto" hangingPunct="1">
              <a:spcBef>
                <a:spcPct val="0"/>
              </a:spcBef>
              <a:spcAft>
                <a:spcPct val="0"/>
              </a:spcAft>
              <a:defRPr sz="1200" kern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 smtClean="0">
                <a:solidFill>
                  <a:schemeClr val="tx1"/>
                </a:solidFill>
                <a:latin typeface="+mn-lt"/>
                <a:cs typeface="等线"/>
              </a:rPr>
              <a:t>МИНИСТЕРСТВО НАУКИ И ВЫСШЕГО ОБРАЗОВАНИЯ РОССИЙСКОЙ ФЕДЕРАЦИИ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 smtClean="0">
                <a:solidFill>
                  <a:schemeClr val="tx1"/>
                </a:solidFill>
                <a:latin typeface="+mn-lt"/>
                <a:cs typeface="等线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 smtClean="0">
                <a:solidFill>
                  <a:schemeClr val="tx1"/>
                </a:solidFill>
                <a:latin typeface="+mn-lt"/>
                <a:cs typeface="等线"/>
              </a:rPr>
              <a:t>«Южно-Уральский государственный университет (национальный исследовательский университет)»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 smtClean="0">
                <a:solidFill>
                  <a:schemeClr val="tx1"/>
                </a:solidFill>
                <a:latin typeface="+mn-lt"/>
                <a:cs typeface="等线"/>
              </a:rPr>
              <a:t>Институт естественных и точных наук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ru-RU" altLang="zh-CN" sz="2000" dirty="0" smtClean="0">
                <a:solidFill>
                  <a:schemeClr val="tx1"/>
                </a:solidFill>
                <a:latin typeface="+mn-lt"/>
                <a:cs typeface="等线"/>
              </a:rPr>
              <a:t>Центр «ВиртУм»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713711"/>
            <a:ext cx="12192000" cy="565921"/>
          </a:xfrm>
        </p:spPr>
        <p:txBody>
          <a:bodyPr anchor="ctr"/>
          <a:lstStyle>
            <a:lvl1pPr marL="0" indent="0" algn="ctr">
              <a:buNone/>
              <a:defRPr sz="2400" baseline="0"/>
            </a:lvl1pPr>
          </a:lstStyle>
          <a:p>
            <a:pPr lvl="0"/>
            <a:r>
              <a:rPr lang="ru-RU" dirty="0" smtClean="0"/>
              <a:t>Направление подготовки</a:t>
            </a:r>
            <a:endParaRPr lang="ru-RU" dirty="0"/>
          </a:p>
        </p:txBody>
      </p:sp>
      <p:sp>
        <p:nvSpPr>
          <p:cNvPr id="13" name="Текст 11"/>
          <p:cNvSpPr>
            <a:spLocks noGrp="1"/>
          </p:cNvSpPr>
          <p:nvPr>
            <p:ph type="body" sz="quarter" idx="12" hasCustomPrompt="1"/>
          </p:nvPr>
        </p:nvSpPr>
        <p:spPr>
          <a:xfrm>
            <a:off x="613317" y="4581220"/>
            <a:ext cx="4716964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 smtClean="0"/>
              <a:t>Научный руководитель</a:t>
            </a:r>
            <a:endParaRPr lang="ru-RU" dirty="0"/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05963" y="4581220"/>
            <a:ext cx="4813607" cy="1652312"/>
          </a:xfrm>
        </p:spPr>
        <p:txBody>
          <a:bodyPr anchor="t"/>
          <a:lstStyle>
            <a:lvl1pPr marL="0" indent="0" algn="l">
              <a:buNone/>
              <a:defRPr sz="2400" baseline="0"/>
            </a:lvl1pPr>
          </a:lstStyle>
          <a:p>
            <a:pPr lvl="0"/>
            <a:r>
              <a:rPr lang="ru-RU" dirty="0" smtClean="0"/>
              <a:t>Автор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428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62"/>
            <a:ext cx="12192000" cy="883809"/>
          </a:xfrm>
        </p:spPr>
        <p:txBody>
          <a:bodyPr/>
          <a:lstStyle>
            <a:lvl1pPr algn="ctr">
              <a:defRPr sz="3600" b="1">
                <a:latin typeface="+mn-lt"/>
              </a:defRPr>
            </a:lvl1pPr>
          </a:lstStyle>
          <a:p>
            <a:r>
              <a:rPr lang="ru-RU" noProof="1"/>
              <a:t>Образец заголовка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  <a:endParaRPr lang="en-US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7473" y="6274415"/>
            <a:ext cx="1360446" cy="588110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  <a:cs typeface="Times New Roman" panose="02020603050405020304" pitchFamily="18" charset="0"/>
              </a:defRPr>
            </a:lvl1pPr>
          </a:lstStyle>
          <a:p>
            <a:fld id="{D063FBCF-7873-4A49-B36C-1F912BB77786}" type="slidenum">
              <a:rPr lang="ru-RU" altLang="ru-RU" smtClean="0"/>
              <a:pPr/>
              <a:t>‹#›</a:t>
            </a:fld>
            <a:r>
              <a:rPr lang="ru-RU" altLang="ru-RU" dirty="0" smtClean="0"/>
              <a:t>/13</a:t>
            </a:r>
            <a:endParaRPr lang="ru-RU" altLang="ru-RU" dirty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0" y="880948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3717" y="6274415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ижний колонтитул 4"/>
          <p:cNvSpPr txBox="1">
            <a:spLocks/>
          </p:cNvSpPr>
          <p:nvPr userDrawn="1"/>
        </p:nvSpPr>
        <p:spPr>
          <a:xfrm>
            <a:off x="-11723" y="6274413"/>
            <a:ext cx="9686977" cy="5835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200" dirty="0" smtClean="0">
                <a:solidFill>
                  <a:schemeClr val="tx1"/>
                </a:solidFill>
              </a:rPr>
              <a:t>Курсовой проект «Поиск и первичный анализ наборов данных»</a:t>
            </a:r>
            <a:endParaRPr lang="ru-RU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53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smtClean="0"/>
              <a:t>Образец заголовка</a:t>
            </a:r>
            <a:endParaRPr lang="en-US" altLang="ru-RU" smtClean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smtClean="0"/>
              <a:t>Образец текста</a:t>
            </a:r>
          </a:p>
          <a:p>
            <a:pPr lvl="1"/>
            <a:r>
              <a:rPr lang="ru-RU" altLang="zh-CN" smtClean="0"/>
              <a:t>Второй уровень</a:t>
            </a:r>
          </a:p>
          <a:p>
            <a:pPr lvl="2"/>
            <a:r>
              <a:rPr lang="ru-RU" altLang="zh-CN" smtClean="0"/>
              <a:t>Третий уровень</a:t>
            </a:r>
          </a:p>
          <a:p>
            <a:pPr lvl="3"/>
            <a:r>
              <a:rPr lang="ru-RU" altLang="zh-CN" smtClean="0"/>
              <a:t>Четвертый уровень</a:t>
            </a:r>
          </a:p>
          <a:p>
            <a:pPr lvl="4"/>
            <a:r>
              <a:rPr lang="ru-RU" altLang="zh-CN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ru-RU" smtClean="0"/>
              <a:t>Челябинск, 2026 г.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fld id="{908C97DF-05ED-458B-8CB7-B5CAFE458C29}" type="slidenum">
              <a:rPr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360/air+qualit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Поиск и первичный анализ наборов данных </a:t>
            </a:r>
            <a:r>
              <a:rPr lang="ru-RU" dirty="0" smtClean="0">
                <a:latin typeface="+mn-lt"/>
              </a:rPr>
              <a:t/>
            </a:r>
            <a:br>
              <a:rPr lang="ru-RU" dirty="0" smtClean="0">
                <a:latin typeface="+mn-lt"/>
              </a:rPr>
            </a:br>
            <a:r>
              <a:rPr lang="ru-RU" dirty="0" smtClean="0">
                <a:latin typeface="+mn-lt"/>
              </a:rPr>
              <a:t>по </a:t>
            </a:r>
            <a:r>
              <a:rPr lang="ru-RU" dirty="0">
                <a:latin typeface="+mn-lt"/>
              </a:rPr>
              <a:t>различным областям применения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altLang="zh-CN" smtClean="0">
                <a:cs typeface="等线"/>
              </a:rPr>
              <a:t>Челябинск, 2026 г.</a:t>
            </a:r>
            <a:endParaRPr lang="ru-RU" altLang="zh-CN" dirty="0" smtClean="0">
              <a:cs typeface="等线"/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defRPr/>
            </a:pPr>
            <a:r>
              <a:rPr lang="ru-RU" altLang="zh-CN" dirty="0">
                <a:cs typeface="等线"/>
              </a:rPr>
              <a:t>09.03.04 «Программная инженерия</a:t>
            </a:r>
            <a:r>
              <a:rPr lang="ru-RU" altLang="zh-CN" dirty="0" smtClean="0">
                <a:cs typeface="等线"/>
              </a:rPr>
              <a:t>»</a:t>
            </a:r>
            <a:endParaRPr lang="ru-RU" altLang="zh-CN" dirty="0">
              <a:cs typeface="等线"/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 smtClean="0"/>
              <a:t>Научный руководитель: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>
                <a:cs typeface="等线"/>
              </a:rPr>
              <a:t>к</a:t>
            </a:r>
            <a:r>
              <a:rPr lang="ru-RU" altLang="zh-CN" dirty="0" smtClean="0">
                <a:cs typeface="等线"/>
              </a:rPr>
              <a:t>.ф.-м.н., доцент центра «</a:t>
            </a:r>
            <a:r>
              <a:rPr lang="ru-RU" altLang="zh-CN" dirty="0" err="1" smtClean="0">
                <a:cs typeface="等线"/>
              </a:rPr>
              <a:t>ВиртУм</a:t>
            </a:r>
            <a:r>
              <a:rPr lang="ru-RU" altLang="zh-CN" dirty="0" smtClean="0">
                <a:cs typeface="等线"/>
              </a:rPr>
              <a:t>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 smtClean="0">
                <a:cs typeface="等线"/>
              </a:rPr>
              <a:t>ученое звание, ученая степень</a:t>
            </a:r>
            <a:br>
              <a:rPr lang="ru-RU" altLang="zh-CN" dirty="0" smtClean="0">
                <a:cs typeface="等线"/>
              </a:rPr>
            </a:br>
            <a:r>
              <a:rPr lang="ru-RU" altLang="zh-CN" dirty="0" err="1" smtClean="0">
                <a:cs typeface="等线"/>
              </a:rPr>
              <a:t>Я.А.Краева</a:t>
            </a:r>
            <a:endParaRPr lang="ru-RU" altLang="zh-CN" dirty="0">
              <a:cs typeface="等线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dirty="0" smtClean="0">
                <a:cs typeface="等线"/>
              </a:rPr>
              <a:t>Автор: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ru-RU" altLang="zh-CN" dirty="0" smtClean="0">
                <a:cs typeface="等线"/>
              </a:rPr>
              <a:t>студент </a:t>
            </a:r>
            <a:r>
              <a:rPr lang="ru-RU" altLang="zh-CN" dirty="0">
                <a:cs typeface="等线"/>
              </a:rPr>
              <a:t>группы </a:t>
            </a:r>
            <a:r>
              <a:rPr lang="ru-RU" altLang="zh-CN" dirty="0" smtClean="0">
                <a:cs typeface="等线"/>
              </a:rPr>
              <a:t>ЕТ-141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zh-CN" dirty="0" err="1" smtClean="0">
                <a:cs typeface="等线"/>
              </a:rPr>
              <a:t>М.Е.Брылкина</a:t>
            </a:r>
            <a:endParaRPr lang="ru-RU" altLang="zh-CN" dirty="0" smtClean="0">
              <a:cs typeface="等线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83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Актуальность: необходимость первичного анализа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6396" y="1328118"/>
            <a:ext cx="1195152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Актуальность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Качество данных напрямую влияет на точность моделей искусственного интеллекта. Первичный анализ позволяет выявить пропуски, выбросы, дисбаланс классов и другие проблемы до этапа обучения моделей.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Цель проекта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Получение практических навыков поиска, анализа и оценки качества наборов данных различных типов для задач искусственного интеллекта.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Что сделано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• Подобраны наборы табличных данных, временных рядов, изображений и текстов.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• Разработаны программы на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Python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для первичного анализа данных.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• Выполнены визуализация, статистический анализ и выявление особенностей каждого типа данных.</a:t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• Проведена оценка качества и пригодности данных для обучения ИИ-моделей.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Итог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/>
            </a:r>
            <a:b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Освоены методы первичного анализа данных различных типов и сформированы рекомендации по их подготовке для последующего применения в системах искусственного интеллекта.</a:t>
            </a:r>
          </a:p>
        </p:txBody>
      </p:sp>
    </p:spTree>
    <p:extLst>
      <p:ext uri="{BB962C8B-B14F-4D97-AF65-F5344CB8AC3E}">
        <p14:creationId xmlns:p14="http://schemas.microsoft.com/office/powerpoint/2010/main" val="26518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 smtClean="0"/>
              <a:t>Табличные данные: задача и описание данных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200" b="1" dirty="0" smtClean="0"/>
              <a:t>Задача: </a:t>
            </a:r>
            <a:r>
              <a:rPr lang="ru-RU" sz="3200" dirty="0"/>
              <a:t>Предсказание перемещения пассажира в альтернативное измерение</a:t>
            </a:r>
            <a:r>
              <a:rPr lang="ru-RU" sz="3200" dirty="0" smtClean="0"/>
              <a:t>.</a:t>
            </a:r>
          </a:p>
          <a:p>
            <a:pPr marL="0" indent="0">
              <a:buNone/>
            </a:pPr>
            <a:r>
              <a:rPr lang="ru-RU" sz="3200" b="1" dirty="0" smtClean="0"/>
              <a:t>Набор данных: 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3200" b="1" dirty="0" smtClean="0"/>
              <a:t>Название, источник: </a:t>
            </a:r>
            <a:r>
              <a:rPr lang="en-US" sz="3200" dirty="0"/>
              <a:t>Spaceship Titanic (</a:t>
            </a:r>
            <a:r>
              <a:rPr lang="en-US" sz="3200" dirty="0" err="1"/>
              <a:t>Kaggle</a:t>
            </a:r>
            <a:r>
              <a:rPr lang="en-US" sz="3200" dirty="0"/>
              <a:t>)</a:t>
            </a:r>
            <a:endParaRPr lang="en-US" sz="3200" dirty="0" smtClean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3200" b="1" dirty="0" smtClean="0"/>
              <a:t>URL:</a:t>
            </a:r>
            <a:r>
              <a:rPr lang="ru-RU" sz="3200" dirty="0" smtClean="0"/>
              <a:t> </a:t>
            </a:r>
            <a:r>
              <a:rPr lang="ru-RU" sz="3200" dirty="0"/>
              <a:t>https://</a:t>
            </a:r>
            <a:r>
              <a:rPr lang="ru-RU" sz="3200" dirty="0" smtClean="0"/>
              <a:t>www.kaggle.com/competitions/spaceship-titanic</a:t>
            </a:r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3200" b="1" dirty="0" smtClean="0"/>
              <a:t>Описание:</a:t>
            </a:r>
            <a:r>
              <a:rPr lang="ru-RU" sz="3200" dirty="0" smtClean="0"/>
              <a:t> информация о 8693 пассажирах </a:t>
            </a:r>
            <a:r>
              <a:rPr lang="ru-RU" sz="3200" dirty="0"/>
              <a:t>космического корабля </a:t>
            </a:r>
            <a:r>
              <a:rPr lang="ru-RU" sz="3200" dirty="0" err="1"/>
              <a:t>Spaceship</a:t>
            </a:r>
            <a:r>
              <a:rPr lang="ru-RU" sz="3200" dirty="0"/>
              <a:t> </a:t>
            </a:r>
            <a:r>
              <a:rPr lang="ru-RU" sz="3200" dirty="0" err="1" smtClean="0"/>
              <a:t>Titanic</a:t>
            </a:r>
            <a:r>
              <a:rPr lang="ru-RU" sz="3200" dirty="0" smtClean="0"/>
              <a:t>, где </a:t>
            </a:r>
            <a:r>
              <a:rPr lang="ru-RU" sz="3200" dirty="0"/>
              <a:t>ч</a:t>
            </a:r>
            <a:r>
              <a:rPr lang="ru-RU" sz="3200" dirty="0" smtClean="0"/>
              <a:t>асть </a:t>
            </a:r>
            <a:r>
              <a:rPr lang="ru-RU" sz="3200" dirty="0"/>
              <a:t>пассажиров была перемещена в альтернативное измерение</a:t>
            </a:r>
            <a:endParaRPr lang="ru-RU" sz="3200" dirty="0" smtClean="0"/>
          </a:p>
          <a:p>
            <a:pPr marL="714375" lvl="1" indent="-357188"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3200" b="1" dirty="0" smtClean="0"/>
              <a:t>Размерность:</a:t>
            </a:r>
            <a:r>
              <a:rPr lang="ru-RU" sz="3200" dirty="0" smtClean="0"/>
              <a:t> 8693 объекта, 14 признаков</a:t>
            </a:r>
          </a:p>
          <a:p>
            <a:pPr marL="714375" lvl="1" indent="-357188">
              <a:buFont typeface="Times New Roman" panose="02020603050405020304" pitchFamily="18" charset="0"/>
              <a:buChar char="−"/>
            </a:pPr>
            <a:endParaRPr lang="ru-RU" sz="26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3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94010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Табличные данные: </a:t>
            </a:r>
            <a:r>
              <a:rPr lang="ru-RU" sz="3600" dirty="0" smtClean="0"/>
              <a:t>атрибуты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4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24108"/>
              </p:ext>
            </p:extLst>
          </p:nvPr>
        </p:nvGraphicFramePr>
        <p:xfrm>
          <a:off x="190919" y="880951"/>
          <a:ext cx="11756572" cy="532602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21622">
                  <a:extLst>
                    <a:ext uri="{9D8B030D-6E8A-4147-A177-3AD203B41FA5}">
                      <a16:colId xmlns:a16="http://schemas.microsoft.com/office/drawing/2014/main" val="4010706525"/>
                    </a:ext>
                  </a:extLst>
                </a:gridCol>
                <a:gridCol w="3939061">
                  <a:extLst>
                    <a:ext uri="{9D8B030D-6E8A-4147-A177-3AD203B41FA5}">
                      <a16:colId xmlns:a16="http://schemas.microsoft.com/office/drawing/2014/main" val="1362888727"/>
                    </a:ext>
                  </a:extLst>
                </a:gridCol>
                <a:gridCol w="2611031">
                  <a:extLst>
                    <a:ext uri="{9D8B030D-6E8A-4147-A177-3AD203B41FA5}">
                      <a16:colId xmlns:a16="http://schemas.microsoft.com/office/drawing/2014/main" val="3084935591"/>
                    </a:ext>
                  </a:extLst>
                </a:gridCol>
                <a:gridCol w="3384858">
                  <a:extLst>
                    <a:ext uri="{9D8B030D-6E8A-4147-A177-3AD203B41FA5}">
                      <a16:colId xmlns:a16="http://schemas.microsoft.com/office/drawing/2014/main" val="2785089466"/>
                    </a:ext>
                  </a:extLst>
                </a:gridCol>
              </a:tblGrid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Признак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Тип данных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Пример значения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469206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PassengerId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Идентификатор пассажира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категориальный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0001_01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182071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HomePlanet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Планета отправления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категориальный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Earth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8706066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CryoSleep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Нахождение в криосне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бинарный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True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540095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Cabin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Номер каюты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категориальный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B/0/P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9617539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Destination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Планета назначения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категориальный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TRAPPIST–1e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520261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Age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Возраст пассажира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числовой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103777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VIP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Статус VIP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бинарный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False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6934152"/>
                  </a:ext>
                </a:extLst>
              </a:tr>
              <a:tr h="5825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RoomService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Расходы на обслуживание в каюте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числовой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612242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FoodCourt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Расходы в фуд–корте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числовой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179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7515091"/>
                  </a:ext>
                </a:extLst>
              </a:tr>
              <a:tr h="4762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ShoppingMall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Расходы в торговом центре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числовой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45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5565554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Spa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Расходы в </a:t>
                      </a:r>
                      <a:r>
                        <a:rPr lang="ru-RU" sz="2000" dirty="0" err="1">
                          <a:effectLst/>
                        </a:rPr>
                        <a:t>спа</a:t>
                      </a:r>
                      <a:r>
                        <a:rPr lang="ru-RU" sz="2000" dirty="0">
                          <a:effectLst/>
                        </a:rPr>
                        <a:t>–центре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числовой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32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2089928"/>
                  </a:ext>
                </a:extLst>
              </a:tr>
              <a:tr h="5974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VRDeck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Расходы в зоне виртуальной реальности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числовой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15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9296586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Name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Имя пассажира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текстовый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Maham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Ofracculy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1005923"/>
                  </a:ext>
                </a:extLst>
              </a:tr>
              <a:tr h="2987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Transported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Целевая переменная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бинарный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en-US" sz="2000" dirty="0" smtClean="0">
                          <a:effectLst/>
                        </a:rPr>
                        <a:t>T</a:t>
                      </a:r>
                      <a:r>
                        <a:rPr lang="ru-RU" sz="2000" dirty="0" err="1" smtClean="0">
                          <a:effectLst/>
                        </a:rPr>
                        <a:t>rue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6080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33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Табличные данные: </a:t>
            </a:r>
            <a:r>
              <a:rPr lang="ru-RU" sz="3600" dirty="0" smtClean="0"/>
              <a:t>пример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5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98488"/>
              </p:ext>
            </p:extLst>
          </p:nvPr>
        </p:nvGraphicFramePr>
        <p:xfrm>
          <a:off x="80387" y="954593"/>
          <a:ext cx="12007533" cy="5245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3162389615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4171474795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1737605593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2297963770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1704617235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3155948247"/>
                    </a:ext>
                  </a:extLst>
                </a:gridCol>
                <a:gridCol w="1499453">
                  <a:extLst>
                    <a:ext uri="{9D8B030D-6E8A-4147-A177-3AD203B41FA5}">
                      <a16:colId xmlns:a16="http://schemas.microsoft.com/office/drawing/2014/main" val="728023325"/>
                    </a:ext>
                  </a:extLst>
                </a:gridCol>
              </a:tblGrid>
              <a:tr h="310019"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PassengerId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HomePlanet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CryoSleep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Cabin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Destination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Age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VIP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RoomService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311"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0001_01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Europa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B/0/P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TRAPPIST-1e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117113"/>
                  </a:ext>
                </a:extLst>
              </a:tr>
              <a:tr h="1455083"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0002_01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Earth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F/0/S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TRAPPIST-1e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109,0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28593"/>
                  </a:ext>
                </a:extLst>
              </a:tr>
              <a:tr h="490054"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0003_01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Europa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A/0/S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TRAPPIST-1e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58,0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43,0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580939"/>
                  </a:ext>
                </a:extLst>
              </a:tr>
              <a:tr h="1213826"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0003_02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Europa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A/0/S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TRAPPIST-1e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33,0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239433"/>
                  </a:ext>
                </a:extLst>
              </a:tr>
              <a:tr h="731311"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0004_01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Earth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F/1/S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TRAPPIST-1e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303,0</a:t>
                      </a: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9724"/>
                  </a:ext>
                </a:extLst>
              </a:tr>
              <a:tr h="313635"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…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1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</a:t>
            </a:r>
            <a:r>
              <a:rPr lang="ru-RU" dirty="0"/>
              <a:t>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6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3" name="Пятиугольник 2"/>
          <p:cNvSpPr/>
          <p:nvPr/>
        </p:nvSpPr>
        <p:spPr>
          <a:xfrm>
            <a:off x="1740664" y="1116573"/>
            <a:ext cx="3338112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1.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         Качество данных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4759569" y="1116572"/>
            <a:ext cx="3975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 smtClean="0">
                <a:solidFill>
                  <a:schemeClr val="tx1"/>
                </a:solidFill>
              </a:rPr>
              <a:t>Шаг 2. Корреляционный анализ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8399928" y="1116571"/>
            <a:ext cx="373655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3. Проверка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на диапазоны значений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420230"/>
              </p:ext>
            </p:extLst>
          </p:nvPr>
        </p:nvGraphicFramePr>
        <p:xfrm>
          <a:off x="61779" y="2088571"/>
          <a:ext cx="12026140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5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3431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Пропуски до 2.5%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Дубликаты отсутствуют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Выявлены выбросы в расходах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пассажиров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Умеренные связи между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расходами (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Spa, 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</a:rPr>
                        <a:t>VRDeck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и 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</a:rPr>
                        <a:t>FoodCourt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20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Слабая корреляция возраста с другими признаками</a:t>
                      </a:r>
                      <a:endParaRPr lang="ru-RU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Анализ выбросов методом</a:t>
                      </a:r>
                      <a:r>
                        <a:rPr lang="ru-RU" sz="20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IQR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Выбросы выявлены преимущественно в расходах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 smtClean="0"/>
                        <a:t>Заполнение медианой и модой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 smtClean="0"/>
                        <a:t>Для пассажиров, находившихся в </a:t>
                      </a:r>
                      <a:r>
                        <a:rPr lang="ru-RU" sz="2000" dirty="0" err="1" smtClean="0"/>
                        <a:t>криосне</a:t>
                      </a:r>
                      <a:r>
                        <a:rPr lang="ru-RU" sz="2000" dirty="0" smtClean="0"/>
                        <a:t>, пропущенные значения расходов заменялись нулями</a:t>
                      </a:r>
                      <a:endParaRPr lang="ru-RU" sz="2000" noProof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dirty="0" smtClean="0"/>
                        <a:t>Использование всех признаков при обучении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Выбросы не удалялись, т.к. отражают реальные данные</a:t>
                      </a:r>
                      <a:endParaRPr lang="ru-RU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72" y="1206109"/>
            <a:ext cx="540000" cy="5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27" y="1216529"/>
            <a:ext cx="540000" cy="54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7384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</a:t>
            </a:r>
            <a:r>
              <a:rPr lang="ru-RU" dirty="0"/>
              <a:t>табличных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7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7" name="Нашивка 6"/>
          <p:cNvSpPr/>
          <p:nvPr/>
        </p:nvSpPr>
        <p:spPr>
          <a:xfrm>
            <a:off x="5515086" y="1122643"/>
            <a:ext cx="3863964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algn="ctr"/>
            <a:r>
              <a:rPr lang="ru-RU" sz="2200" b="1" dirty="0" smtClean="0">
                <a:solidFill>
                  <a:schemeClr val="tx1"/>
                </a:solidFill>
              </a:rPr>
              <a:t>        Шаг 5.    </a:t>
            </a:r>
          </a:p>
          <a:p>
            <a:pPr marL="273050" algn="ctr"/>
            <a:r>
              <a:rPr lang="ru-RU" sz="2200" b="1" dirty="0">
                <a:solidFill>
                  <a:schemeClr val="tx1"/>
                </a:solidFill>
              </a:rPr>
              <a:t> 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Распределения </a:t>
            </a:r>
            <a:r>
              <a:rPr lang="ru-RU" sz="2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категор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атрибутов.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36640"/>
              </p:ext>
            </p:extLst>
          </p:nvPr>
        </p:nvGraphicFramePr>
        <p:xfrm>
          <a:off x="132538" y="2130109"/>
          <a:ext cx="11924559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3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00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Age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распределение близко к нормальному, присутствуют дети и пожилые пассажиры.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RoomService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FoodCourt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ShoppingMall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Spa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VRDeck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выраженная правосторонняя асимметрия, большинство значений близко к нулю.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HomePlanet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преобладает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Earth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Destination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большинство пассажиров направлялись на TRAPPIST-1e.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CryoSleep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большая часть пассажиров не находилась в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криосне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 VIP: VIP-пассажиры представлены незначительно.</a:t>
                      </a:r>
                    </a:p>
                  </a:txBody>
                  <a:tcPr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CryoSleep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VIP: 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бинарные признаки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HomePlanet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Destination, Deck: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многокатегориальные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признаки.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Age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: сохранение крайних значений как информативных наблюдений.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Учет возможного влияния планеты отправления, пункта назначения, статуса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CryoSleep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и VIP на целевую переменную </a:t>
                      </a:r>
                      <a:r>
                        <a:rPr lang="ru-RU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Transported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CryoSleep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VIP: Label Encoding (False→0, True→1). </a:t>
                      </a:r>
                      <a:r>
                        <a:rPr 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HomePlanet</a:t>
                      </a: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Destination, Deck: One-Hot Encoding.</a:t>
                      </a:r>
                      <a:endParaRPr lang="ru-RU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Нашивка 9"/>
          <p:cNvSpPr/>
          <p:nvPr/>
        </p:nvSpPr>
        <p:spPr>
          <a:xfrm>
            <a:off x="1893060" y="1122643"/>
            <a:ext cx="406877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             Шаг 4.         </a:t>
            </a:r>
          </a:p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  </a:t>
            </a:r>
            <a:r>
              <a:rPr lang="ru-RU" sz="23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Распределения числовых атрибутов. </a:t>
            </a:r>
          </a:p>
        </p:txBody>
      </p:sp>
      <p:sp>
        <p:nvSpPr>
          <p:cNvPr id="8" name="Нашивка 7"/>
          <p:cNvSpPr/>
          <p:nvPr/>
        </p:nvSpPr>
        <p:spPr>
          <a:xfrm>
            <a:off x="8953081" y="1122643"/>
            <a:ext cx="3238919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486000" y="48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</a:rPr>
              <a:t>Шаг </a:t>
            </a:r>
            <a:r>
              <a:rPr lang="ru-RU" sz="2200" b="1" dirty="0" smtClean="0">
                <a:solidFill>
                  <a:schemeClr val="tx1"/>
                </a:solidFill>
              </a:rPr>
              <a:t>6. </a:t>
            </a:r>
            <a:endParaRPr lang="ru-RU" sz="2200" b="1" dirty="0">
              <a:solidFill>
                <a:schemeClr val="tx1"/>
              </a:solidFill>
            </a:endParaRPr>
          </a:p>
          <a:p>
            <a:pPr marL="622300" algn="ctr"/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Кодирование </a:t>
            </a:r>
            <a:r>
              <a:rPr lang="ru-RU" sz="2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категор</a:t>
            </a:r>
            <a:r>
              <a:rPr lang="ru-RU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атрибутов. 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254" y="1158109"/>
            <a:ext cx="616569" cy="612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78" b="100000" l="2667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818" y="1272446"/>
            <a:ext cx="432000" cy="432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162" y="1336728"/>
            <a:ext cx="324000" cy="4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7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Временные ряды: задача </a:t>
            </a:r>
            <a:r>
              <a:rPr lang="ru-RU" dirty="0"/>
              <a:t>и описание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8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0" y="1022738"/>
            <a:ext cx="12188283" cy="5099281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cs typeface="Calibri" panose="020F0502020204030204" pitchFamily="34" charset="0"/>
              </a:rPr>
              <a:t>Задача: </a:t>
            </a:r>
            <a:r>
              <a:rPr lang="ru-RU" dirty="0"/>
              <a:t>Прогнозирование концентрации угарного газа (CO) по данным датчиков качества воздуха.</a:t>
            </a:r>
            <a:endParaRPr lang="ru-RU" dirty="0"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cs typeface="Calibri" panose="020F0502020204030204" pitchFamily="34" charset="0"/>
              </a:rPr>
              <a:t> 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cs typeface="Calibri" panose="020F0502020204030204" pitchFamily="34" charset="0"/>
              </a:rPr>
              <a:t>Название, источник: </a:t>
            </a:r>
            <a:r>
              <a:rPr lang="en-US" sz="2800" dirty="0"/>
              <a:t>Air Quality </a:t>
            </a:r>
            <a:r>
              <a:rPr lang="en-US" sz="2800" dirty="0" smtClean="0"/>
              <a:t>Dataset</a:t>
            </a:r>
            <a:r>
              <a:rPr lang="ru-RU" sz="2800" dirty="0" smtClean="0"/>
              <a:t>, </a:t>
            </a:r>
            <a:r>
              <a:rPr lang="en-US" sz="2800" dirty="0"/>
              <a:t>UCI Machine Learning </a:t>
            </a:r>
            <a:r>
              <a:rPr lang="en-US" sz="2800" dirty="0" smtClean="0"/>
              <a:t>Repository</a:t>
            </a:r>
            <a:r>
              <a:rPr lang="ru-RU" sz="2800" dirty="0" smtClean="0"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 smtClean="0">
                <a:cs typeface="Calibri" panose="020F0502020204030204" pitchFamily="34" charset="0"/>
              </a:rPr>
              <a:t>URL</a:t>
            </a:r>
            <a:r>
              <a:rPr lang="ru-RU" sz="2800" b="1" dirty="0">
                <a:cs typeface="Calibri" panose="020F0502020204030204" pitchFamily="34" charset="0"/>
              </a:rPr>
              <a:t>:</a:t>
            </a:r>
            <a:r>
              <a:rPr lang="ru-RU" sz="2800" dirty="0">
                <a:cs typeface="Calibri" panose="020F0502020204030204" pitchFamily="34" charset="0"/>
              </a:rPr>
              <a:t> </a:t>
            </a:r>
            <a:r>
              <a:rPr lang="ru-RU" sz="2800" dirty="0">
                <a:hlinkClick r:id="rId2"/>
              </a:rPr>
              <a:t>https://archive.ics.uci.edu/dataset/360/air+quality</a:t>
            </a:r>
            <a:endParaRPr lang="ru-RU" sz="2800" dirty="0"/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 smtClean="0">
                <a:cs typeface="Calibri" panose="020F0502020204030204" pitchFamily="34" charset="0"/>
              </a:rPr>
              <a:t>Описание</a:t>
            </a:r>
            <a:r>
              <a:rPr lang="ru-RU" sz="2800" b="1" dirty="0">
                <a:cs typeface="Calibri" panose="020F0502020204030204" pitchFamily="34" charset="0"/>
              </a:rPr>
              <a:t>:</a:t>
            </a:r>
            <a:r>
              <a:rPr lang="ru-RU" sz="2800" dirty="0">
                <a:cs typeface="Calibri" panose="020F0502020204030204" pitchFamily="34" charset="0"/>
              </a:rPr>
              <a:t> </a:t>
            </a:r>
            <a:r>
              <a:rPr lang="ru-RU" sz="2800" dirty="0"/>
              <a:t>Набор </a:t>
            </a:r>
            <a:r>
              <a:rPr lang="ru-RU" sz="2800" dirty="0" smtClean="0"/>
              <a:t>данных </a:t>
            </a:r>
            <a:r>
              <a:rPr lang="ru-RU" sz="2800" dirty="0"/>
              <a:t>содержит более 9300 почасовых </a:t>
            </a:r>
            <a:r>
              <a:rPr lang="ru-RU" sz="2800" dirty="0" smtClean="0"/>
              <a:t>наблюдений</a:t>
            </a:r>
            <a:r>
              <a:rPr lang="ru-RU" sz="2800" dirty="0"/>
              <a:t>, собранных в течение примерно одного года. </a:t>
            </a:r>
          </a:p>
          <a:p>
            <a:pPr marL="242887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smtClean="0">
                <a:cs typeface="Calibri" panose="020F0502020204030204" pitchFamily="34" charset="0"/>
              </a:rPr>
              <a:t>Практическая </a:t>
            </a:r>
            <a:r>
              <a:rPr lang="ru-RU" b="1" dirty="0">
                <a:cs typeface="Calibri" panose="020F0502020204030204" pitchFamily="34" charset="0"/>
              </a:rPr>
              <a:t>значимость: </a:t>
            </a:r>
            <a:r>
              <a:rPr lang="ru-RU" dirty="0"/>
              <a:t>Позволяет исследовать методы анализа временных рядов и подготовки данных для задач прогнозирования.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416919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Временные </a:t>
            </a:r>
            <a:r>
              <a:rPr lang="ru-RU" dirty="0" smtClean="0"/>
              <a:t>ряды: визуализация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9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3535655" y="2320679"/>
            <a:ext cx="2363755" cy="779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200" dirty="0" smtClean="0"/>
          </a:p>
        </p:txBody>
      </p:sp>
      <p:sp>
        <p:nvSpPr>
          <p:cNvPr id="12" name="Левая фигурная скобка 11"/>
          <p:cNvSpPr/>
          <p:nvPr/>
        </p:nvSpPr>
        <p:spPr>
          <a:xfrm>
            <a:off x="444623" y="1174308"/>
            <a:ext cx="108000" cy="4212000"/>
          </a:xfrm>
          <a:prstGeom prst="leftBrace">
            <a:avLst>
              <a:gd name="adj1" fmla="val 6062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 rot="16200000">
            <a:off x="-607604" y="3055516"/>
            <a:ext cx="16145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b="1" dirty="0" smtClean="0"/>
              <a:t>4 измерения</a:t>
            </a:r>
            <a:endParaRPr lang="ru-RU" sz="2000" dirty="0"/>
          </a:p>
        </p:txBody>
      </p:sp>
      <p:sp>
        <p:nvSpPr>
          <p:cNvPr id="16" name="Левая фигурная скобка 15"/>
          <p:cNvSpPr/>
          <p:nvPr/>
        </p:nvSpPr>
        <p:spPr>
          <a:xfrm rot="16200000">
            <a:off x="4020068" y="2978005"/>
            <a:ext cx="108000" cy="5616000"/>
          </a:xfrm>
          <a:prstGeom prst="leftBrace">
            <a:avLst>
              <a:gd name="adj1" fmla="val 6062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166231" y="5860514"/>
            <a:ext cx="3809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b="1" dirty="0" smtClean="0"/>
              <a:t>30332 значений (1 </a:t>
            </a:r>
            <a:r>
              <a:rPr lang="ru-RU" sz="2000" b="1" dirty="0"/>
              <a:t>раз в 5 </a:t>
            </a:r>
            <a:r>
              <a:rPr lang="ru-RU" sz="2000" b="1" dirty="0" smtClean="0"/>
              <a:t>минут)</a:t>
            </a:r>
            <a:endParaRPr lang="ru-RU" sz="2000" b="1" dirty="0"/>
          </a:p>
        </p:txBody>
      </p:sp>
      <p:pic>
        <p:nvPicPr>
          <p:cNvPr id="10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4154"/>
            <a:ext cx="6882069" cy="5316469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82069" y="947380"/>
            <a:ext cx="520585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Ряд CO(GT):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значения изменяются в диапазоне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0,1–11,9 мг/м³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средний уровень составляет около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 мг/м³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наблюдаются резкие всплески концентрации и выраженная суточная цикличность.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Ряд NMHC(GT):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значения изменяются от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7 до 1189 мкг/м³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присутствует большое количество пропусков (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90,23%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), что ограничивает практическое использование признака.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Ряд C6H6(GT):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концентрация бензола изменяется в диапазоне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0,1–63,7 мкг/м³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динамика согласуется с изменениями других загрязняющих веществ.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Ряд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NOx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(GT):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значения находятся в диапазоне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2–1479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ppb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наблюдаются значительные колебания и отдельные экстремальные выбросы.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Ряды T, RH и AH: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метеорологические показатели изменяются более плавно; температура находится в диапазоне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−1,9…44,6 °C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влажность —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9,2…88,7%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429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ru-RU" dirty="0" smtClean="0"/>
              <a:t>временных рядов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10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Пятиугольник 5"/>
          <p:cNvSpPr/>
          <p:nvPr/>
        </p:nvSpPr>
        <p:spPr>
          <a:xfrm>
            <a:off x="1740664" y="1044381"/>
            <a:ext cx="5706638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1.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 Качество данных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7099160" y="1044381"/>
            <a:ext cx="4679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2</a:t>
            </a:r>
            <a:r>
              <a:rPr lang="ru-RU" sz="2200" b="1" dirty="0">
                <a:solidFill>
                  <a:schemeClr val="tx1"/>
                </a:solidFill>
              </a:rPr>
              <a:t>. </a:t>
            </a:r>
            <a:endParaRPr lang="ru-RU" sz="2200" b="1" dirty="0" smtClean="0">
              <a:solidFill>
                <a:schemeClr val="tx1"/>
              </a:solidFill>
            </a:endParaRPr>
          </a:p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Корреляционный</a:t>
            </a:r>
          </a:p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 анализ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671851"/>
              </p:ext>
            </p:extLst>
          </p:nvPr>
        </p:nvGraphicFramePr>
        <p:xfrm>
          <a:off x="86949" y="2132812"/>
          <a:ext cx="12000970" cy="4141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852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Во всех каналах обнаружены пропущенные значения.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Наибольшая доля пропусков наблюдается в признаке NMHC(GT) (90,23%).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Между показателями качества воздуха выявлены значимые взаимосвязи.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Наиболее сильная связь наблюдается между показаниями сенсоров и концентрациями загрязняющих веществ.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 Метеорологические параметры оказывают влияние на уровень загрязнения воздуха.</a:t>
                      </a:r>
                    </a:p>
                  </a:txBody>
                  <a:tcPr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078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Замена служебного значения –200 на </a:t>
                      </a:r>
                      <a:r>
                        <a:rPr lang="ru-RU" sz="2000" b="0" dirty="0" err="1" smtClean="0">
                          <a:solidFill>
                            <a:schemeClr val="tx1"/>
                          </a:solidFill>
                        </a:rPr>
                        <a:t>NaN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 Интерполяция пропущенных значений</a:t>
                      </a: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ru-RU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Использование наиболее информативных признаков.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</a:rPr>
                        <a:t>Исключение избыточных параметров при необходимости.</a:t>
                      </a:r>
                      <a:endParaRPr lang="ru-RU" sz="20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01648"/>
            <a:ext cx="648000" cy="64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00" y="109886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9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ru-RU" dirty="0" smtClean="0"/>
              <a:t>временных рядов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11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7" name="Нашивка 6"/>
          <p:cNvSpPr/>
          <p:nvPr/>
        </p:nvSpPr>
        <p:spPr>
          <a:xfrm>
            <a:off x="1818500" y="1044380"/>
            <a:ext cx="5168454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363538" algn="ctr"/>
            <a:r>
              <a:rPr lang="ru-RU" sz="2200" b="1" dirty="0" smtClean="0">
                <a:solidFill>
                  <a:schemeClr val="tx1"/>
                </a:solidFill>
              </a:rPr>
              <a:t>Шаг 3</a:t>
            </a:r>
            <a:r>
              <a:rPr lang="ru-RU" sz="2200" b="1" dirty="0">
                <a:solidFill>
                  <a:schemeClr val="tx1"/>
                </a:solidFill>
              </a:rPr>
              <a:t>. Проверка </a:t>
            </a:r>
            <a:br>
              <a:rPr lang="ru-RU" sz="2200" b="1" dirty="0">
                <a:solidFill>
                  <a:schemeClr val="tx1"/>
                </a:solidFill>
              </a:rPr>
            </a:br>
            <a:r>
              <a:rPr lang="ru-RU" sz="2200" b="1" dirty="0">
                <a:solidFill>
                  <a:schemeClr val="tx1"/>
                </a:solidFill>
              </a:rPr>
              <a:t>на </a:t>
            </a:r>
            <a:r>
              <a:rPr lang="ru-RU" sz="2200" b="1" dirty="0" smtClean="0">
                <a:solidFill>
                  <a:schemeClr val="tx1"/>
                </a:solidFill>
              </a:rPr>
              <a:t>диапазоны значений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6814698" y="1044379"/>
            <a:ext cx="532178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4. </a:t>
            </a:r>
          </a:p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Распределения измерений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019598"/>
              </p:ext>
            </p:extLst>
          </p:nvPr>
        </p:nvGraphicFramePr>
        <p:xfrm>
          <a:off x="86949" y="2105916"/>
          <a:ext cx="11969581" cy="40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4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600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Диапазоны признаков существенно различаются. Например: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CO(GT): 0–12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PT08.S1(CO): 500–2700 </a:t>
                      </a:r>
                    </a:p>
                    <a:p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Выявлены выбросы в отдельных каналах.</a:t>
                      </a:r>
                      <a:r>
                        <a:rPr lang="ru-RU" sz="2000" b="0" i="1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br>
                        <a:rPr lang="ru-RU" sz="2000" b="0" i="1" dirty="0" smtClean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endParaRPr lang="ru-RU" sz="20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Большинство признаков имеют асимметричные распределения.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Для загрязняющих веществ характерны длинные правые хвосты.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Наблюдаются отдельные экстремальные значения.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00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Выполнить стандартизацию признаков.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масштабирование перед обучением моделей.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устойчивые к выбросам методы анализа.</a:t>
                      </a:r>
                      <a:endParaRPr lang="ru-RU" sz="20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483" y="1102994"/>
            <a:ext cx="612000" cy="612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573" y="1020932"/>
            <a:ext cx="616569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6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12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32636"/>
              </p:ext>
            </p:extLst>
          </p:nvPr>
        </p:nvGraphicFramePr>
        <p:xfrm>
          <a:off x="0" y="2039011"/>
          <a:ext cx="12087920" cy="4358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4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767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Для ряда CO(GT) выявлена выраженная суточная сезонность. 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Средний уровень концентрации сохраняется около 2 мг/м³.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 Амплитуда сезонной компоненты составляет около 1,2 мг/м³.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 Долгосрочный тренд выражен слабо..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Остаточная компонента имеет случайный характер и не содержит выраженных закономерностей.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Большинство значений шума находится в диапазоне от −1,5 до +1,5 мг/м³. Распределение остатков близко к нормальному.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Существенных систематических ошибок в данных не выявлено.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533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Учитывать сезонность при построении прогнозных моделей.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Использовать временные признаки (час, день недели).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Применять модели временных рядов с учетом сезонной компоненты.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Использовать сглаживание (скользящее среднее) для снижения влияния случайных колебаний.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Учитывать наличие шума при прогнозировании концентрации загрязняющих веществ.</a:t>
                      </a: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Сохранять остаточную компоненту как источник информации о случайных изменениях процесса.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Нашивка 7"/>
          <p:cNvSpPr/>
          <p:nvPr/>
        </p:nvSpPr>
        <p:spPr>
          <a:xfrm>
            <a:off x="6764215" y="1037757"/>
            <a:ext cx="4900247" cy="972000"/>
          </a:xfrm>
          <a:custGeom>
            <a:avLst/>
            <a:gdLst>
              <a:gd name="connsiteX0" fmla="*/ 0 w 3863964"/>
              <a:gd name="connsiteY0" fmla="*/ 0 h 972000"/>
              <a:gd name="connsiteX1" fmla="*/ 3377964 w 3863964"/>
              <a:gd name="connsiteY1" fmla="*/ 0 h 972000"/>
              <a:gd name="connsiteX2" fmla="*/ 3863964 w 3863964"/>
              <a:gd name="connsiteY2" fmla="*/ 486000 h 972000"/>
              <a:gd name="connsiteX3" fmla="*/ 3377964 w 3863964"/>
              <a:gd name="connsiteY3" fmla="*/ 972000 h 972000"/>
              <a:gd name="connsiteX4" fmla="*/ 0 w 3863964"/>
              <a:gd name="connsiteY4" fmla="*/ 972000 h 972000"/>
              <a:gd name="connsiteX5" fmla="*/ 486000 w 3863964"/>
              <a:gd name="connsiteY5" fmla="*/ 486000 h 972000"/>
              <a:gd name="connsiteX6" fmla="*/ 0 w 3863964"/>
              <a:gd name="connsiteY6" fmla="*/ 0 h 972000"/>
              <a:gd name="connsiteX0" fmla="*/ 0 w 3377964"/>
              <a:gd name="connsiteY0" fmla="*/ 0 h 972000"/>
              <a:gd name="connsiteX1" fmla="*/ 3377964 w 3377964"/>
              <a:gd name="connsiteY1" fmla="*/ 0 h 972000"/>
              <a:gd name="connsiteX2" fmla="*/ 3335155 w 3377964"/>
              <a:gd name="connsiteY2" fmla="*/ 452950 h 972000"/>
              <a:gd name="connsiteX3" fmla="*/ 3377964 w 3377964"/>
              <a:gd name="connsiteY3" fmla="*/ 972000 h 972000"/>
              <a:gd name="connsiteX4" fmla="*/ 0 w 3377964"/>
              <a:gd name="connsiteY4" fmla="*/ 972000 h 972000"/>
              <a:gd name="connsiteX5" fmla="*/ 486000 w 3377964"/>
              <a:gd name="connsiteY5" fmla="*/ 486000 h 972000"/>
              <a:gd name="connsiteX6" fmla="*/ 0 w 3377964"/>
              <a:gd name="connsiteY6" fmla="*/ 0 h 972000"/>
              <a:gd name="connsiteX0" fmla="*/ 0 w 3412273"/>
              <a:gd name="connsiteY0" fmla="*/ 0 h 972000"/>
              <a:gd name="connsiteX1" fmla="*/ 3377964 w 3412273"/>
              <a:gd name="connsiteY1" fmla="*/ 0 h 972000"/>
              <a:gd name="connsiteX2" fmla="*/ 3412273 w 3412273"/>
              <a:gd name="connsiteY2" fmla="*/ 452950 h 972000"/>
              <a:gd name="connsiteX3" fmla="*/ 3377964 w 3412273"/>
              <a:gd name="connsiteY3" fmla="*/ 972000 h 972000"/>
              <a:gd name="connsiteX4" fmla="*/ 0 w 3412273"/>
              <a:gd name="connsiteY4" fmla="*/ 972000 h 972000"/>
              <a:gd name="connsiteX5" fmla="*/ 486000 w 3412273"/>
              <a:gd name="connsiteY5" fmla="*/ 486000 h 972000"/>
              <a:gd name="connsiteX6" fmla="*/ 0 w 3412273"/>
              <a:gd name="connsiteY6" fmla="*/ 0 h 972000"/>
              <a:gd name="connsiteX0" fmla="*/ 0 w 3395797"/>
              <a:gd name="connsiteY0" fmla="*/ 0 h 972000"/>
              <a:gd name="connsiteX1" fmla="*/ 3377964 w 3395797"/>
              <a:gd name="connsiteY1" fmla="*/ 0 h 972000"/>
              <a:gd name="connsiteX2" fmla="*/ 3395797 w 3395797"/>
              <a:gd name="connsiteY2" fmla="*/ 452950 h 972000"/>
              <a:gd name="connsiteX3" fmla="*/ 3377964 w 3395797"/>
              <a:gd name="connsiteY3" fmla="*/ 972000 h 972000"/>
              <a:gd name="connsiteX4" fmla="*/ 0 w 3395797"/>
              <a:gd name="connsiteY4" fmla="*/ 972000 h 972000"/>
              <a:gd name="connsiteX5" fmla="*/ 486000 w 3395797"/>
              <a:gd name="connsiteY5" fmla="*/ 486000 h 972000"/>
              <a:gd name="connsiteX6" fmla="*/ 0 w 339579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2950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78294"/>
              <a:gd name="connsiteY0" fmla="*/ 0 h 972000"/>
              <a:gd name="connsiteX1" fmla="*/ 3377964 w 3378294"/>
              <a:gd name="connsiteY1" fmla="*/ 0 h 972000"/>
              <a:gd name="connsiteX2" fmla="*/ 3375202 w 3378294"/>
              <a:gd name="connsiteY2" fmla="*/ 452950 h 972000"/>
              <a:gd name="connsiteX3" fmla="*/ 3377964 w 3378294"/>
              <a:gd name="connsiteY3" fmla="*/ 972000 h 972000"/>
              <a:gd name="connsiteX4" fmla="*/ 0 w 3378294"/>
              <a:gd name="connsiteY4" fmla="*/ 972000 h 972000"/>
              <a:gd name="connsiteX5" fmla="*/ 486000 w 3378294"/>
              <a:gd name="connsiteY5" fmla="*/ 486000 h 972000"/>
              <a:gd name="connsiteX6" fmla="*/ 0 w 3378294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91677"/>
              <a:gd name="connsiteY0" fmla="*/ 0 h 972000"/>
              <a:gd name="connsiteX1" fmla="*/ 3377964 w 3391677"/>
              <a:gd name="connsiteY1" fmla="*/ 0 h 972000"/>
              <a:gd name="connsiteX2" fmla="*/ 3391677 w 3391677"/>
              <a:gd name="connsiteY2" fmla="*/ 457069 h 972000"/>
              <a:gd name="connsiteX3" fmla="*/ 3377964 w 3391677"/>
              <a:gd name="connsiteY3" fmla="*/ 972000 h 972000"/>
              <a:gd name="connsiteX4" fmla="*/ 0 w 3391677"/>
              <a:gd name="connsiteY4" fmla="*/ 972000 h 972000"/>
              <a:gd name="connsiteX5" fmla="*/ 486000 w 3391677"/>
              <a:gd name="connsiteY5" fmla="*/ 486000 h 972000"/>
              <a:gd name="connsiteX6" fmla="*/ 0 w 3391677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486000 w 3383440"/>
              <a:gd name="connsiteY5" fmla="*/ 486000 h 972000"/>
              <a:gd name="connsiteX6" fmla="*/ 0 w 3383440"/>
              <a:gd name="connsiteY6" fmla="*/ 0 h 972000"/>
              <a:gd name="connsiteX0" fmla="*/ 0 w 3383440"/>
              <a:gd name="connsiteY0" fmla="*/ 0 h 972000"/>
              <a:gd name="connsiteX1" fmla="*/ 3377964 w 3383440"/>
              <a:gd name="connsiteY1" fmla="*/ 0 h 972000"/>
              <a:gd name="connsiteX2" fmla="*/ 3383440 w 3383440"/>
              <a:gd name="connsiteY2" fmla="*/ 457069 h 972000"/>
              <a:gd name="connsiteX3" fmla="*/ 3377964 w 3383440"/>
              <a:gd name="connsiteY3" fmla="*/ 972000 h 972000"/>
              <a:gd name="connsiteX4" fmla="*/ 0 w 3383440"/>
              <a:gd name="connsiteY4" fmla="*/ 972000 h 972000"/>
              <a:gd name="connsiteX5" fmla="*/ 356490 w 3383440"/>
              <a:gd name="connsiteY5" fmla="*/ 497723 h 972000"/>
              <a:gd name="connsiteX6" fmla="*/ 0 w 3383440"/>
              <a:gd name="connsiteY6" fmla="*/ 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440" h="972000">
                <a:moveTo>
                  <a:pt x="0" y="0"/>
                </a:moveTo>
                <a:lnTo>
                  <a:pt x="3377964" y="0"/>
                </a:lnTo>
                <a:cubicBezTo>
                  <a:pt x="3379789" y="150983"/>
                  <a:pt x="3381615" y="306086"/>
                  <a:pt x="3383440" y="457069"/>
                </a:cubicBezTo>
                <a:cubicBezTo>
                  <a:pt x="3381615" y="630086"/>
                  <a:pt x="3379789" y="798983"/>
                  <a:pt x="3377964" y="972000"/>
                </a:cubicBezTo>
                <a:lnTo>
                  <a:pt x="0" y="972000"/>
                </a:lnTo>
                <a:lnTo>
                  <a:pt x="356490" y="4977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622300" algn="ctr"/>
            <a:r>
              <a:rPr lang="ru-RU" sz="2200" b="1" dirty="0">
                <a:solidFill>
                  <a:schemeClr val="tx1"/>
                </a:solidFill>
              </a:rPr>
              <a:t>Шаг </a:t>
            </a:r>
            <a:r>
              <a:rPr lang="ru-RU" sz="2200" b="1" dirty="0" smtClean="0">
                <a:solidFill>
                  <a:schemeClr val="tx1"/>
                </a:solidFill>
              </a:rPr>
              <a:t>6. </a:t>
            </a:r>
          </a:p>
          <a:p>
            <a:pPr marL="622300" algn="ctr"/>
            <a:r>
              <a:rPr lang="ru-RU" sz="2200" b="1" dirty="0" smtClean="0">
                <a:solidFill>
                  <a:schemeClr val="tx1"/>
                </a:solidFill>
              </a:rPr>
              <a:t>Поиск и анализ </a:t>
            </a:r>
            <a:r>
              <a:rPr lang="ru-RU" sz="2200" b="1" dirty="0">
                <a:solidFill>
                  <a:schemeClr val="tx1"/>
                </a:solidFill>
              </a:rPr>
              <a:t>шумов</a:t>
            </a:r>
          </a:p>
        </p:txBody>
      </p:sp>
      <p:sp>
        <p:nvSpPr>
          <p:cNvPr id="7" name="Нашивка 6"/>
          <p:cNvSpPr/>
          <p:nvPr/>
        </p:nvSpPr>
        <p:spPr>
          <a:xfrm>
            <a:off x="1835279" y="1037757"/>
            <a:ext cx="5188608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4500" algn="ctr"/>
            <a:r>
              <a:rPr lang="ru-RU" sz="2200" b="1" dirty="0" smtClean="0">
                <a:solidFill>
                  <a:schemeClr val="tx1"/>
                </a:solidFill>
              </a:rPr>
              <a:t>Шаг 5. </a:t>
            </a:r>
          </a:p>
          <a:p>
            <a:pPr marL="720725" algn="ctr"/>
            <a:r>
              <a:rPr lang="ru-RU" sz="2200" b="1" dirty="0" smtClean="0">
                <a:solidFill>
                  <a:schemeClr val="tx1"/>
                </a:solidFill>
              </a:rPr>
              <a:t>Разложение на компоненты </a:t>
            </a:r>
          </a:p>
          <a:p>
            <a:pPr marL="355600" algn="ctr"/>
            <a:r>
              <a:rPr lang="ru-RU" sz="2200" b="1" dirty="0" smtClean="0">
                <a:solidFill>
                  <a:schemeClr val="tx1"/>
                </a:solidFill>
              </a:rPr>
              <a:t>(декомпозиция)  </a:t>
            </a:r>
            <a:endParaRPr lang="ru-RU" sz="2200" b="1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37" y="1143425"/>
            <a:ext cx="504000" cy="504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781" y="1067012"/>
            <a:ext cx="656825" cy="65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7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Изображения: задача и описание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sz="2400" b="1" dirty="0">
                <a:cs typeface="Calibri" panose="020F0502020204030204" pitchFamily="34" charset="0"/>
              </a:rPr>
              <a:t>Задача: </a:t>
            </a:r>
            <a:r>
              <a:rPr lang="ru-RU" sz="2400" dirty="0"/>
              <a:t>Классификация изображений цветов по видам с использованием методов компьютерного зрения и </a:t>
            </a:r>
            <a:r>
              <a:rPr lang="ru-RU" sz="2400" dirty="0" err="1"/>
              <a:t>сверточных</a:t>
            </a:r>
            <a:r>
              <a:rPr lang="ru-RU" sz="2400" dirty="0"/>
              <a:t> нейронных сетей.</a:t>
            </a:r>
            <a:r>
              <a:rPr lang="ru-RU" sz="2400" b="1" dirty="0" smtClean="0">
                <a:cs typeface="Calibri" panose="020F0502020204030204" pitchFamily="34" charset="0"/>
              </a:rPr>
              <a:t> </a:t>
            </a:r>
            <a:r>
              <a:rPr lang="ru-RU" sz="2400" b="1" dirty="0">
                <a:cs typeface="Calibri" panose="020F0502020204030204" pitchFamily="34" charset="0"/>
              </a:rPr>
              <a:t>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b="1" dirty="0">
                <a:cs typeface="Calibri" panose="020F0502020204030204" pitchFamily="34" charset="0"/>
              </a:rPr>
              <a:t>Название, источник: </a:t>
            </a:r>
            <a:r>
              <a:rPr lang="en-US" dirty="0"/>
              <a:t>Flowers Recognition Dataset</a:t>
            </a:r>
            <a:r>
              <a:rPr lang="en-US" dirty="0" smtClean="0">
                <a:cs typeface="Calibri" panose="020F0502020204030204" pitchFamily="34" charset="0"/>
              </a:rPr>
              <a:t>, </a:t>
            </a:r>
            <a:r>
              <a:rPr lang="en-US" dirty="0" err="1">
                <a:cs typeface="Calibri" panose="020F0502020204030204" pitchFamily="34" charset="0"/>
              </a:rPr>
              <a:t>Kaggle</a:t>
            </a:r>
            <a:r>
              <a:rPr lang="ru-RU" dirty="0">
                <a:cs typeface="Calibri" panose="020F0502020204030204" pitchFamily="34" charset="0"/>
              </a:rPr>
              <a:t>.</a:t>
            </a:r>
            <a:endParaRPr lang="en-US" dirty="0"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b="1" dirty="0">
                <a:cs typeface="Calibri" panose="020F0502020204030204" pitchFamily="34" charset="0"/>
              </a:rPr>
              <a:t>URL:</a:t>
            </a:r>
            <a:r>
              <a:rPr lang="ru-RU" dirty="0">
                <a:cs typeface="Calibri" panose="020F0502020204030204" pitchFamily="34" charset="0"/>
              </a:rPr>
              <a:t> </a:t>
            </a:r>
            <a:r>
              <a:rPr lang="ru-RU" dirty="0"/>
              <a:t>https://</a:t>
            </a:r>
            <a:r>
              <a:rPr lang="ru-RU" dirty="0" smtClean="0"/>
              <a:t>www.kaggle.com/datasets/alxmamaev/flowers-recognition.</a:t>
            </a:r>
            <a:endParaRPr lang="ru-RU" dirty="0"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b="1" dirty="0" smtClean="0">
                <a:cs typeface="Calibri" panose="020F0502020204030204" pitchFamily="34" charset="0"/>
              </a:rPr>
              <a:t>Описание: </a:t>
            </a:r>
            <a:r>
              <a:rPr lang="ru-RU" dirty="0"/>
              <a:t>Изображения цветов из открытого набора данных </a:t>
            </a:r>
            <a:r>
              <a:rPr lang="ru-RU" dirty="0" err="1"/>
              <a:t>Flowers</a:t>
            </a:r>
            <a:r>
              <a:rPr lang="ru-RU" dirty="0"/>
              <a:t> </a:t>
            </a:r>
            <a:r>
              <a:rPr lang="ru-RU" dirty="0" err="1"/>
              <a:t>Recognition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. Для работы используется выборка из </a:t>
            </a:r>
            <a:r>
              <a:rPr lang="ru-RU" b="1" dirty="0"/>
              <a:t>4317 изображений</a:t>
            </a:r>
            <a:r>
              <a:rPr lang="ru-RU" dirty="0"/>
              <a:t>, распределенных по </a:t>
            </a:r>
            <a:r>
              <a:rPr lang="ru-RU" b="1" dirty="0"/>
              <a:t>5 классам</a:t>
            </a:r>
            <a:r>
              <a:rPr lang="ru-RU" dirty="0"/>
              <a:t>: </a:t>
            </a:r>
            <a:r>
              <a:rPr lang="ru-RU" dirty="0" err="1"/>
              <a:t>Daisy</a:t>
            </a:r>
            <a:r>
              <a:rPr lang="ru-RU" dirty="0"/>
              <a:t>, </a:t>
            </a:r>
            <a:r>
              <a:rPr lang="ru-RU" dirty="0" err="1"/>
              <a:t>Dandelion</a:t>
            </a:r>
            <a:r>
              <a:rPr lang="ru-RU" dirty="0"/>
              <a:t>, </a:t>
            </a:r>
            <a:r>
              <a:rPr lang="ru-RU" dirty="0" err="1"/>
              <a:t>Rose</a:t>
            </a:r>
            <a:r>
              <a:rPr lang="ru-RU" dirty="0"/>
              <a:t>, </a:t>
            </a:r>
            <a:r>
              <a:rPr lang="ru-RU" dirty="0" err="1"/>
              <a:t>Sunflower</a:t>
            </a:r>
            <a:r>
              <a:rPr lang="ru-RU" dirty="0"/>
              <a:t> и </a:t>
            </a:r>
            <a:r>
              <a:rPr lang="ru-RU" dirty="0" err="1"/>
              <a:t>Tulip</a:t>
            </a:r>
            <a:r>
              <a:rPr lang="ru-RU" dirty="0"/>
              <a:t>. Формат файлов: </a:t>
            </a:r>
            <a:r>
              <a:rPr lang="ru-RU" b="1" dirty="0"/>
              <a:t>JPG</a:t>
            </a:r>
            <a:r>
              <a:rPr lang="ru-RU" dirty="0"/>
              <a:t>, цветовой режим: </a:t>
            </a:r>
            <a:r>
              <a:rPr lang="ru-RU" b="1" dirty="0"/>
              <a:t>RGB</a:t>
            </a:r>
            <a:r>
              <a:rPr lang="ru-RU" dirty="0"/>
              <a:t>.</a:t>
            </a:r>
            <a:endParaRPr lang="ru-RU" b="1" dirty="0" smtClean="0">
              <a:cs typeface="Calibri" panose="020F0502020204030204" pitchFamily="34" charset="0"/>
            </a:endParaRP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b="1" dirty="0" smtClean="0">
                <a:cs typeface="Calibri" panose="020F0502020204030204" pitchFamily="34" charset="0"/>
              </a:rPr>
              <a:t> </a:t>
            </a:r>
            <a:r>
              <a:rPr lang="ru-RU" b="1" dirty="0">
                <a:cs typeface="Calibri" panose="020F0502020204030204" pitchFamily="34" charset="0"/>
              </a:rPr>
              <a:t>Практическая значимость: </a:t>
            </a:r>
            <a:r>
              <a:rPr lang="ru-RU" dirty="0"/>
              <a:t>Набор данных позволяет исследовать методы анализа изображений и оценить эффективность современных </a:t>
            </a:r>
            <a:r>
              <a:rPr lang="ru-RU" dirty="0" err="1"/>
              <a:t>сверточных</a:t>
            </a:r>
            <a:r>
              <a:rPr lang="ru-RU" dirty="0"/>
              <a:t> нейронных сетей при решении задач классификации объектов.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13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382420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14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3" name="Пятиугольник 2"/>
          <p:cNvSpPr/>
          <p:nvPr/>
        </p:nvSpPr>
        <p:spPr>
          <a:xfrm>
            <a:off x="1740664" y="1116573"/>
            <a:ext cx="3338112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1.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         Качество данных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4759569" y="1116572"/>
            <a:ext cx="3975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 smtClean="0">
                <a:solidFill>
                  <a:schemeClr val="tx1"/>
                </a:solidFill>
              </a:rPr>
              <a:t>Шаг 2. Баланс классов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8399928" y="1116571"/>
            <a:ext cx="373655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3. Размеры изображений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38637"/>
              </p:ext>
            </p:extLst>
          </p:nvPr>
        </p:nvGraphicFramePr>
        <p:xfrm>
          <a:off x="61779" y="2131304"/>
          <a:ext cx="120261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9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5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1563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Пропуски отсутствуют. Поврежденные файлы не обнаружены. Ручная проверка 10% изображений не выявила ошибок разметки.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Каждый класс содержит по 100 изображений (33,3%). Дисбаланс классов отсутствует.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Размеры изображений различаются: ширина от 159 до 500 </a:t>
                      </a:r>
                      <a:r>
                        <a:rPr lang="ru-RU" sz="22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px</a:t>
                      </a: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высота от 180 до 442 </a:t>
                      </a:r>
                      <a:r>
                        <a:rPr lang="ru-RU" sz="22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px</a:t>
                      </a: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 Средний размер — 384×293 </a:t>
                      </a:r>
                      <a:r>
                        <a:rPr lang="ru-RU" sz="22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px</a:t>
                      </a: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Дополнительная очистка данных не требуется.</a:t>
                      </a:r>
                      <a:endParaRPr lang="ru-RU" sz="2200" b="0" noProof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Методы балансировки классов не требуются.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Выполнить масштабирование изображений до единого размера перед обучением модели.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72" y="1206109"/>
            <a:ext cx="540000" cy="5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27" y="1216529"/>
            <a:ext cx="540000" cy="54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7384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Изображения: визуализация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15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966937"/>
            <a:ext cx="572756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Daisy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(Ромашка):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100 изображений;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различные масштабы объектов;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разнообразные фоны и условия освещения;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различные углы обзора.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Rose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(Роза):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100 изображений;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высокая внутриклассовая вариативность;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представлены красные, белые, розовые и желтые розы;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различные размеры и степени раскрытия бутона.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Sunflower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(Подсолнух):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100 изображений;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разнообразие ракурсов, освещения и фонов;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изображения получены в естественных условиях съемки;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различные масштабы объектов.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7526614" y="4942428"/>
            <a:ext cx="43324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Распределение размеров изображений: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9110" y="959730"/>
            <a:ext cx="4749918" cy="3982698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616995"/>
              </p:ext>
            </p:extLst>
          </p:nvPr>
        </p:nvGraphicFramePr>
        <p:xfrm>
          <a:off x="6876053" y="5309116"/>
          <a:ext cx="5216032" cy="8650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04008">
                  <a:extLst>
                    <a:ext uri="{9D8B030D-6E8A-4147-A177-3AD203B41FA5}">
                      <a16:colId xmlns:a16="http://schemas.microsoft.com/office/drawing/2014/main" val="2580367570"/>
                    </a:ext>
                  </a:extLst>
                </a:gridCol>
                <a:gridCol w="1304008">
                  <a:extLst>
                    <a:ext uri="{9D8B030D-6E8A-4147-A177-3AD203B41FA5}">
                      <a16:colId xmlns:a16="http://schemas.microsoft.com/office/drawing/2014/main" val="910136798"/>
                    </a:ext>
                  </a:extLst>
                </a:gridCol>
                <a:gridCol w="1304008">
                  <a:extLst>
                    <a:ext uri="{9D8B030D-6E8A-4147-A177-3AD203B41FA5}">
                      <a16:colId xmlns:a16="http://schemas.microsoft.com/office/drawing/2014/main" val="2271943251"/>
                    </a:ext>
                  </a:extLst>
                </a:gridCol>
                <a:gridCol w="1304008">
                  <a:extLst>
                    <a:ext uri="{9D8B030D-6E8A-4147-A177-3AD203B41FA5}">
                      <a16:colId xmlns:a16="http://schemas.microsoft.com/office/drawing/2014/main" val="1697569008"/>
                    </a:ext>
                  </a:extLst>
                </a:gridCol>
              </a:tblGrid>
              <a:tr h="288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Параметр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Минимум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Максимум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Среднее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982563"/>
                  </a:ext>
                </a:extLst>
              </a:tr>
              <a:tr h="288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Ширина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159 </a:t>
                      </a:r>
                      <a:r>
                        <a:rPr lang="ru-RU" sz="1200" dirty="0" err="1">
                          <a:effectLst/>
                        </a:rPr>
                        <a:t>px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500 px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384,18 px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5296761"/>
                  </a:ext>
                </a:extLst>
              </a:tr>
              <a:tr h="288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Высота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180 px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442 px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293,19 </a:t>
                      </a:r>
                      <a:r>
                        <a:rPr lang="ru-RU" sz="1200" dirty="0" err="1">
                          <a:effectLst/>
                        </a:rPr>
                        <a:t>px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7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31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Изображения: </a:t>
            </a:r>
            <a:r>
              <a:rPr lang="ru-RU" dirty="0" err="1"/>
              <a:t>сверточные</a:t>
            </a:r>
            <a:r>
              <a:rPr lang="ru-RU" dirty="0"/>
              <a:t> нейронные сети 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76690"/>
              </p:ext>
            </p:extLst>
          </p:nvPr>
        </p:nvGraphicFramePr>
        <p:xfrm>
          <a:off x="5858188" y="948013"/>
          <a:ext cx="5356449" cy="51932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90628">
                  <a:extLst>
                    <a:ext uri="{9D8B030D-6E8A-4147-A177-3AD203B41FA5}">
                      <a16:colId xmlns:a16="http://schemas.microsoft.com/office/drawing/2014/main" val="576452048"/>
                    </a:ext>
                  </a:extLst>
                </a:gridCol>
                <a:gridCol w="2965821">
                  <a:extLst>
                    <a:ext uri="{9D8B030D-6E8A-4147-A177-3AD203B41FA5}">
                      <a16:colId xmlns:a16="http://schemas.microsoft.com/office/drawing/2014/main" val="4237291235"/>
                    </a:ext>
                  </a:extLst>
                </a:gridCol>
              </a:tblGrid>
              <a:tr h="376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Архитектура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Размер входного изображения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0048065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AlexNet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227×227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0902760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effectLst/>
                        </a:rPr>
                        <a:t>VGG16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7703504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VGG19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1608152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ResNet</a:t>
                      </a:r>
                      <a:r>
                        <a:rPr lang="ru-RU" sz="1200" dirty="0">
                          <a:effectLst/>
                        </a:rPr>
                        <a:t>–18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1933159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ResNet</a:t>
                      </a:r>
                      <a:r>
                        <a:rPr lang="ru-RU" sz="1200" dirty="0">
                          <a:effectLst/>
                        </a:rPr>
                        <a:t>–34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9249202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ResNet</a:t>
                      </a:r>
                      <a:r>
                        <a:rPr lang="ru-RU" sz="1200" dirty="0">
                          <a:effectLst/>
                        </a:rPr>
                        <a:t>–50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1694406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DenseNet</a:t>
                      </a:r>
                      <a:r>
                        <a:rPr lang="ru-RU" sz="1200" dirty="0">
                          <a:effectLst/>
                        </a:rPr>
                        <a:t>–121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60488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MobileNetV2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2140469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EfficientNet</a:t>
                      </a:r>
                      <a:r>
                        <a:rPr lang="ru-RU" sz="1200" dirty="0">
                          <a:effectLst/>
                        </a:rPr>
                        <a:t>–B0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224×224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1993776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EfficientNet</a:t>
                      </a:r>
                      <a:r>
                        <a:rPr lang="ru-RU" sz="1200" dirty="0">
                          <a:effectLst/>
                        </a:rPr>
                        <a:t>–B3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300×300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545839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InceptionV3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299×299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8465950"/>
                  </a:ext>
                </a:extLst>
              </a:tr>
              <a:tr h="4013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Xception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299×299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386221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16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-1" y="976424"/>
            <a:ext cx="422030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dirty="0">
                <a:latin typeface="+mn-lt"/>
              </a:rPr>
              <a:t>При небольшом объеме выборки целесообразно </a:t>
            </a:r>
            <a:r>
              <a:rPr lang="ru-RU" sz="2000" dirty="0" smtClean="0">
                <a:latin typeface="+mn-lt"/>
              </a:rPr>
              <a:t>применять </a:t>
            </a:r>
            <a:r>
              <a:rPr lang="ru-RU" sz="2000" dirty="0" err="1" smtClean="0">
                <a:latin typeface="+mn-lt"/>
              </a:rPr>
              <a:t>дообучение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нейронных сетей, обученных на крупных </a:t>
            </a:r>
            <a:r>
              <a:rPr lang="ru-RU" sz="2000" dirty="0" err="1">
                <a:latin typeface="+mn-lt"/>
              </a:rPr>
              <a:t>датасетах</a:t>
            </a:r>
            <a:r>
              <a:rPr lang="ru-RU" sz="2000" dirty="0" smtClean="0">
                <a:latin typeface="+mn-lt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0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000" dirty="0">
                <a:latin typeface="+mn-lt"/>
              </a:rPr>
              <a:t>Анализ популярных архитектур показал, что большинство современных моделей (</a:t>
            </a:r>
            <a:r>
              <a:rPr lang="en-US" sz="2000" dirty="0">
                <a:latin typeface="+mn-lt"/>
              </a:rPr>
              <a:t>VGG, </a:t>
            </a:r>
            <a:r>
              <a:rPr lang="en-US" sz="2000" dirty="0" err="1">
                <a:latin typeface="+mn-lt"/>
              </a:rPr>
              <a:t>ResNet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DenseNet</a:t>
            </a:r>
            <a:r>
              <a:rPr lang="en-US" sz="2000" dirty="0">
                <a:latin typeface="+mn-lt"/>
              </a:rPr>
              <a:t>, MobileNetV2, EfficientNet-B0) </a:t>
            </a:r>
            <a:r>
              <a:rPr lang="ru-RU" sz="2000" dirty="0">
                <a:latin typeface="+mn-lt"/>
              </a:rPr>
              <a:t>используют входной размер 224×224 пикселя. Для </a:t>
            </a:r>
            <a:r>
              <a:rPr lang="en-US" sz="2000" dirty="0">
                <a:latin typeface="+mn-lt"/>
              </a:rPr>
              <a:t>EfficientNet-B3 </a:t>
            </a:r>
            <a:r>
              <a:rPr lang="ru-RU" sz="2000" dirty="0">
                <a:latin typeface="+mn-lt"/>
              </a:rPr>
              <a:t>требуется размер 300×300 пикселей, а для </a:t>
            </a:r>
            <a:r>
              <a:rPr lang="en-US" sz="2000" dirty="0">
                <a:latin typeface="+mn-lt"/>
              </a:rPr>
              <a:t>InceptionV3 </a:t>
            </a:r>
            <a:r>
              <a:rPr lang="ru-RU" sz="2000" dirty="0">
                <a:latin typeface="+mn-lt"/>
              </a:rPr>
              <a:t>и </a:t>
            </a:r>
            <a:r>
              <a:rPr lang="en-US" sz="2000" dirty="0" err="1">
                <a:latin typeface="+mn-lt"/>
              </a:rPr>
              <a:t>Xception</a:t>
            </a:r>
            <a:r>
              <a:rPr lang="en-US" sz="2000" dirty="0">
                <a:latin typeface="+mn-lt"/>
              </a:rPr>
              <a:t> — 299×299 </a:t>
            </a:r>
            <a:r>
              <a:rPr lang="ru-RU" sz="2000" dirty="0">
                <a:latin typeface="+mn-lt"/>
              </a:rPr>
              <a:t>пикселей.</a:t>
            </a:r>
          </a:p>
        </p:txBody>
      </p:sp>
    </p:spTree>
    <p:extLst>
      <p:ext uri="{BB962C8B-B14F-4D97-AF65-F5344CB8AC3E}">
        <p14:creationId xmlns:p14="http://schemas.microsoft.com/office/powerpoint/2010/main" val="144538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изображений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17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Пятиугольник 5"/>
          <p:cNvSpPr/>
          <p:nvPr/>
        </p:nvSpPr>
        <p:spPr>
          <a:xfrm>
            <a:off x="1685092" y="999201"/>
            <a:ext cx="5706638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4.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Примеры изображений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7079063" y="999201"/>
            <a:ext cx="4679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5. </a:t>
            </a:r>
          </a:p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Аугментация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420248"/>
              </p:ext>
            </p:extLst>
          </p:nvPr>
        </p:nvGraphicFramePr>
        <p:xfrm>
          <a:off x="191030" y="1971202"/>
          <a:ext cx="12000970" cy="432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262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Изображения получены в естественных условиях съемки. Присутствуют различные масштабы объектов, фоны, условия освещения и углы обзора. Наибольшая вариативность наблюдается в классе </a:t>
                      </a:r>
                      <a:r>
                        <a:rPr lang="ru-RU" sz="22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Rose</a:t>
                      </a: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ru-RU" sz="2200" b="0" i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Датасет</a:t>
                      </a: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содержит 300 изображений, что является относительно небольшим объемом выборки для обучения нейронных сетей. Существует риск переобучения.</a:t>
                      </a:r>
                    </a:p>
                  </a:txBody>
                  <a:tcPr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51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изображения без дополнительной фильтрации, так как разнообразие способствует лучшему обобщению модели.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Применять аугментацию: горизонтальное отражение, случайные повороты, изменение яркости и контраста, масштабирование и случайное кадрирование.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01648"/>
            <a:ext cx="648000" cy="64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00" y="109886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1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Текстовые данные: задача и описание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Задача: </a:t>
            </a:r>
            <a:r>
              <a:rPr lang="ru-RU" dirty="0" err="1"/>
              <a:t>Многоклассовая</a:t>
            </a:r>
            <a:r>
              <a:rPr lang="ru-RU" dirty="0"/>
              <a:t> классификация тональности русскоязычных </a:t>
            </a:r>
            <a:r>
              <a:rPr lang="ru-RU" dirty="0" smtClean="0"/>
              <a:t>текстов.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Набор данных: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Название, источник: </a:t>
            </a:r>
            <a:r>
              <a:rPr lang="en-US" sz="2800" dirty="0" err="1"/>
              <a:t>OpenSentimentCorpus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ru-R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URL</a:t>
            </a: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800" dirty="0"/>
              <a:t>https://</a:t>
            </a:r>
            <a:r>
              <a:rPr lang="ru-RU" sz="2800" dirty="0" smtClean="0"/>
              <a:t>github.com/yarfruct/open-sentiment-corpus.</a:t>
            </a:r>
            <a:endParaRPr lang="ru-RU" sz="2800" dirty="0"/>
          </a:p>
          <a:p>
            <a:pPr marL="714375" lvl="1" indent="-357188">
              <a:lnSpc>
                <a:spcPct val="100000"/>
              </a:lnSpc>
              <a:spcBef>
                <a:spcPts val="1200"/>
              </a:spcBef>
              <a:buFont typeface="Times New Roman" panose="02020603050405020304" pitchFamily="18" charset="0"/>
              <a:buChar char="−"/>
            </a:pPr>
            <a:r>
              <a:rPr lang="ru-RU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Описание</a:t>
            </a:r>
            <a:r>
              <a:rPr lang="ru-RU" sz="28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800" dirty="0" smtClean="0"/>
              <a:t>набор данных содержит </a:t>
            </a:r>
            <a:r>
              <a:rPr lang="ru-RU" sz="2800" dirty="0"/>
              <a:t>5961 русскоязычное предложение, размеченное по четырем классам тональности: </a:t>
            </a:r>
            <a:r>
              <a:rPr lang="ru-RU" sz="2800" dirty="0" err="1"/>
              <a:t>positive</a:t>
            </a:r>
            <a:r>
              <a:rPr lang="ru-RU" sz="2800" dirty="0"/>
              <a:t>, </a:t>
            </a:r>
            <a:r>
              <a:rPr lang="ru-RU" sz="2800" dirty="0" err="1"/>
              <a:t>negative</a:t>
            </a:r>
            <a:r>
              <a:rPr lang="ru-RU" sz="2800" dirty="0"/>
              <a:t>, </a:t>
            </a:r>
            <a:r>
              <a:rPr lang="ru-RU" sz="2800" dirty="0" err="1"/>
              <a:t>neutral</a:t>
            </a:r>
            <a:r>
              <a:rPr lang="ru-RU" sz="2800" dirty="0"/>
              <a:t> и </a:t>
            </a:r>
            <a:r>
              <a:rPr lang="ru-RU" sz="2800" dirty="0" err="1"/>
              <a:t>mixed</a:t>
            </a:r>
            <a:r>
              <a:rPr lang="ru-RU" sz="2800" dirty="0"/>
              <a:t>.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42887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Практическая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значимость: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</a:t>
            </a:r>
            <a:r>
              <a:rPr lang="ru-RU" dirty="0"/>
              <a:t>втоматическая </a:t>
            </a:r>
            <a:r>
              <a:rPr lang="ru-RU" dirty="0" err="1"/>
              <a:t>модерация</a:t>
            </a:r>
            <a:r>
              <a:rPr lang="ru-RU" dirty="0"/>
              <a:t> отзывов, выявление негатива и оценка удовлетворённости клиентов.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18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903099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3013"/>
            <a:ext cx="12192000" cy="856972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Текстовые данные: визуализация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19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pic>
        <p:nvPicPr>
          <p:cNvPr id="11" name="drawi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024" y="1117299"/>
            <a:ext cx="5897237" cy="3155475"/>
          </a:xfrm>
          <a:prstGeom prst="rect">
            <a:avLst/>
          </a:prstGeom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00484" y="839691"/>
            <a:ext cx="499403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7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17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Neutral</a:t>
            </a:r>
            <a:endParaRPr kumimoji="0" lang="ru-RU" altLang="ru-RU" sz="17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3062 предложения;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51,4 % выборки; </a:t>
            </a:r>
          </a:p>
          <a:p>
            <a:pPr lvl="0" defTabSz="914400">
              <a:buFontTx/>
              <a:buChar char="•"/>
            </a:pPr>
            <a:r>
              <a:rPr lang="ru-RU" altLang="ru-RU" sz="1600" dirty="0">
                <a:latin typeface="+mn-lt"/>
              </a:rPr>
              <a:t>к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лючевые слова: </a:t>
            </a:r>
            <a:r>
              <a:rPr lang="ru-RU" sz="1600" dirty="0">
                <a:latin typeface="+mn-lt"/>
              </a:rPr>
              <a:t>сообщить, заявить, отметить, </a:t>
            </a:r>
            <a:r>
              <a:rPr lang="ru-RU" sz="1600" dirty="0" smtClean="0">
                <a:latin typeface="+mn-lt"/>
              </a:rPr>
              <a:t>состояться;</a:t>
            </a:r>
          </a:p>
          <a:p>
            <a:pPr lvl="0" defTabSz="914400">
              <a:buFontTx/>
              <a:buChar char="•"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самый многочисленный класс. 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Negative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1793 предложения;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30,1 % выборки; </a:t>
            </a:r>
          </a:p>
          <a:p>
            <a:pPr defTabSz="914400">
              <a:buFontTx/>
              <a:buChar char="•"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Ключевые слова: </a:t>
            </a:r>
            <a:r>
              <a:rPr lang="ru-RU" sz="1600" dirty="0">
                <a:latin typeface="+mn-lt"/>
              </a:rPr>
              <a:t>проблема, кризис, плохой, сложный, трудно</a:t>
            </a:r>
            <a:r>
              <a:rPr lang="ru-RU" sz="1600" dirty="0" smtClean="0">
                <a:latin typeface="+mn-lt"/>
              </a:rPr>
              <a:t>;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Positive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669 предложений;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11,2 % выборки; </a:t>
            </a:r>
          </a:p>
          <a:p>
            <a:pPr defTabSz="914400">
              <a:buFontTx/>
              <a:buChar char="•"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Ключевые слова:</a:t>
            </a:r>
            <a:r>
              <a:rPr kumimoji="0" lang="ru-RU" altLang="ru-RU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600" dirty="0">
                <a:latin typeface="+mn-lt"/>
              </a:rPr>
              <a:t>хороший, успех, радость, важный, интересный;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эмоционально окрашенную лексику. 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Mixed</a:t>
            </a:r>
            <a:endParaRPr kumimoji="0" lang="ru-RU" alt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437 предложений;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7,3 % выборки;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сочетает положительные и отрицательные элементы;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наиболее сложный для классификации класс.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0" y="-2862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5593583" y="4520089"/>
            <a:ext cx="62276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Распределение классов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всего: 5961 предложение;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датасет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является несбалансированным;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Neutral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доминирует;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классы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Positive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и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Mixed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представлены значительно слабее.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781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20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3" name="Пятиугольник 2"/>
          <p:cNvSpPr/>
          <p:nvPr/>
        </p:nvSpPr>
        <p:spPr>
          <a:xfrm>
            <a:off x="1740664" y="1116573"/>
            <a:ext cx="3338112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1.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smtClean="0">
                <a:solidFill>
                  <a:schemeClr val="tx1"/>
                </a:solidFill>
              </a:rPr>
              <a:t>         Качество данных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7" name="Нашивка 6"/>
          <p:cNvSpPr/>
          <p:nvPr/>
        </p:nvSpPr>
        <p:spPr>
          <a:xfrm>
            <a:off x="4759569" y="1116572"/>
            <a:ext cx="3975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625475" algn="ctr"/>
            <a:r>
              <a:rPr lang="ru-RU" sz="2200" b="1" dirty="0" smtClean="0">
                <a:solidFill>
                  <a:schemeClr val="tx1"/>
                </a:solidFill>
              </a:rPr>
              <a:t>Шаг 2. Баланс классов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8399928" y="1116571"/>
            <a:ext cx="3736553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3. Отчистка текста</a:t>
            </a:r>
            <a:endParaRPr lang="ru-R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11748"/>
              </p:ext>
            </p:extLst>
          </p:nvPr>
        </p:nvGraphicFramePr>
        <p:xfrm>
          <a:off x="61779" y="2131304"/>
          <a:ext cx="12026140" cy="420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9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5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1563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Пропуски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отсутствуют.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Персональные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данные не обнаружены.</a:t>
                      </a:r>
                      <a:endParaRPr lang="ru-RU" sz="2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Датасет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2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несбалансирован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. Класс </a:t>
                      </a:r>
                      <a:r>
                        <a:rPr lang="ru-RU" sz="2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Neutral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составляет 51,4 %, класс </a:t>
                      </a:r>
                      <a:r>
                        <a:rPr lang="ru-RU" sz="24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Mixed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— 7,3 %.</a:t>
                      </a:r>
                      <a:endParaRPr lang="ru-RU" sz="2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Тексты содержат знаки препинания, цифры и служебные символы.</a:t>
                      </a:r>
                      <a:endParaRPr lang="ru-RU" sz="2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Дополнительная очистка данных не требуется.</a:t>
                      </a:r>
                      <a:endParaRPr lang="ru-RU" sz="2200" b="0" noProof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взвешивание классов или методы балансировки при обучении модели.</a:t>
                      </a:r>
                      <a:endParaRPr lang="ru-RU" sz="2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Выполнены приведение к нижнему регистру, удаление пунктуации, цифр и лишних пробелов.</a:t>
                      </a:r>
                      <a:endParaRPr lang="ru-RU" sz="22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272" y="1206109"/>
            <a:ext cx="540000" cy="5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327" y="1216529"/>
            <a:ext cx="540000" cy="54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7384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0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21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Пятиугольник 5"/>
          <p:cNvSpPr/>
          <p:nvPr/>
        </p:nvSpPr>
        <p:spPr>
          <a:xfrm>
            <a:off x="1685092" y="999201"/>
            <a:ext cx="5706638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4.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 err="1">
                <a:solidFill>
                  <a:schemeClr val="tx1"/>
                </a:solidFill>
              </a:rPr>
              <a:t>Лемматизация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7079063" y="999201"/>
            <a:ext cx="4679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5. 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</a:rPr>
              <a:t>Частотный анализ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266449"/>
              </p:ext>
            </p:extLst>
          </p:nvPr>
        </p:nvGraphicFramePr>
        <p:xfrm>
          <a:off x="191030" y="1971202"/>
          <a:ext cx="12000970" cy="4303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262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Все слова успешно приведены к начальной форме с помощью pymorphy3.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Наиболее частыми словами являются: «год», «все», «они», «мочь», «человек», «время», «</a:t>
                      </a:r>
                      <a:r>
                        <a:rPr lang="ru-RU" sz="2800" b="0" i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россия</a:t>
                      </a:r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».</a:t>
                      </a:r>
                      <a:endParaRPr lang="ru-RU" sz="28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51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</a:t>
                      </a:r>
                      <a:r>
                        <a:rPr lang="ru-RU" sz="2800" b="0" i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лемматизированные</a:t>
                      </a:r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тексты для дальнейшего анализа.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Построены облака слов и выполнено выделение значимых терминов.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01648"/>
            <a:ext cx="648000" cy="64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00" y="109886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6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22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sp>
        <p:nvSpPr>
          <p:cNvPr id="6" name="Пятиугольник 5"/>
          <p:cNvSpPr/>
          <p:nvPr/>
        </p:nvSpPr>
        <p:spPr>
          <a:xfrm>
            <a:off x="1685092" y="999201"/>
            <a:ext cx="5706638" cy="97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smtClean="0">
                <a:solidFill>
                  <a:schemeClr val="tx1"/>
                </a:solidFill>
              </a:rPr>
              <a:t>Шаг </a:t>
            </a:r>
            <a:r>
              <a:rPr lang="ru-RU" sz="2200" b="1" dirty="0">
                <a:solidFill>
                  <a:schemeClr val="tx1"/>
                </a:solidFill>
              </a:rPr>
              <a:t>6</a:t>
            </a:r>
            <a:r>
              <a:rPr lang="ru-RU" sz="2200" b="1" dirty="0" smtClean="0">
                <a:solidFill>
                  <a:schemeClr val="tx1"/>
                </a:solidFill>
              </a:rPr>
              <a:t>. </a:t>
            </a:r>
            <a:br>
              <a:rPr lang="ru-RU" sz="2200" b="1" dirty="0" smtClean="0">
                <a:solidFill>
                  <a:schemeClr val="tx1"/>
                </a:solidFill>
              </a:rPr>
            </a:br>
            <a:r>
              <a:rPr lang="ru-RU" sz="2200" b="1" dirty="0">
                <a:solidFill>
                  <a:schemeClr val="tx1"/>
                </a:solidFill>
              </a:rPr>
              <a:t>Векторизация </a:t>
            </a:r>
            <a:r>
              <a:rPr lang="en-US" sz="2200" b="1" dirty="0">
                <a:solidFill>
                  <a:schemeClr val="tx1"/>
                </a:solidFill>
              </a:rPr>
              <a:t>TF-IDF</a:t>
            </a:r>
            <a:endParaRPr lang="ru-RU" sz="2200" b="1" dirty="0">
              <a:solidFill>
                <a:schemeClr val="tx1"/>
              </a:solidFill>
            </a:endParaRPr>
          </a:p>
        </p:txBody>
      </p:sp>
      <p:sp>
        <p:nvSpPr>
          <p:cNvPr id="8" name="Нашивка 7"/>
          <p:cNvSpPr/>
          <p:nvPr/>
        </p:nvSpPr>
        <p:spPr>
          <a:xfrm>
            <a:off x="7079063" y="999201"/>
            <a:ext cx="4679357" cy="972000"/>
          </a:xfrm>
          <a:prstGeom prst="chevron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447675" algn="ctr"/>
            <a:r>
              <a:rPr lang="ru-RU" sz="2200" b="1" dirty="0" smtClean="0">
                <a:solidFill>
                  <a:schemeClr val="tx1"/>
                </a:solidFill>
              </a:rPr>
              <a:t>Шаг </a:t>
            </a:r>
            <a:r>
              <a:rPr lang="ru-RU" sz="2200" b="1" dirty="0">
                <a:solidFill>
                  <a:schemeClr val="tx1"/>
                </a:solidFill>
              </a:rPr>
              <a:t>7</a:t>
            </a:r>
            <a:r>
              <a:rPr lang="ru-RU" sz="2200" b="1" dirty="0" smtClean="0">
                <a:solidFill>
                  <a:schemeClr val="tx1"/>
                </a:solidFill>
              </a:rPr>
              <a:t>. </a:t>
            </a:r>
          </a:p>
          <a:p>
            <a:pPr marL="447675" algn="ctr"/>
            <a:r>
              <a:rPr lang="ru-RU" sz="2200" b="1" dirty="0">
                <a:solidFill>
                  <a:schemeClr val="tx1"/>
                </a:solidFill>
              </a:rPr>
              <a:t>Анализ длины текстов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203791"/>
              </p:ext>
            </p:extLst>
          </p:nvPr>
        </p:nvGraphicFramePr>
        <p:xfrm>
          <a:off x="191030" y="1971202"/>
          <a:ext cx="12000970" cy="4303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5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262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>
                          <a:solidFill>
                            <a:schemeClr val="tx1"/>
                          </a:solidFill>
                        </a:rPr>
                        <a:t>Результаты</a:t>
                      </a:r>
                      <a:endParaRPr lang="ru-RU" sz="2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Тексты преобразованы в числовое представление для моделей машинного обучения.</a:t>
                      </a:r>
                      <a:endParaRPr lang="ru-RU" sz="2800" b="0" i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Большинство предложений содержит от 5 до 25 слов. Существенных аномалий не выявлено.</a:t>
                      </a:r>
                      <a:endParaRPr lang="ru-RU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51">
                <a:tc>
                  <a:txBody>
                    <a:bodyPr/>
                    <a:lstStyle/>
                    <a:p>
                      <a:pPr algn="ctr"/>
                      <a:r>
                        <a:rPr lang="ru-RU" sz="2200" b="1" dirty="0" smtClean="0">
                          <a:solidFill>
                            <a:schemeClr val="tx1"/>
                          </a:solidFill>
                        </a:rPr>
                        <a:t>Действия</a:t>
                      </a:r>
                      <a:endParaRPr lang="ru-RU" sz="2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Использовать TF-IDF признаки для классификации тональности.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Ограничение длины текстов не требуется.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7" b="100000" l="2344" r="96094">
                        <a14:foregroundMark x1="17383" y1="52734" x2="17383" y2="52734"/>
                        <a14:foregroundMark x1="18945" y1="69727" x2="18945" y2="69727"/>
                        <a14:foregroundMark x1="19336" y1="83789" x2="19336" y2="83789"/>
                        <a14:foregroundMark x1="60352" y1="82422" x2="60352" y2="82422"/>
                        <a14:backgroundMark x1="45703" y1="18945" x2="45703" y2="18945"/>
                        <a14:backgroundMark x1="69336" y1="23438" x2="69336" y2="234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03" y="1001648"/>
            <a:ext cx="648000" cy="648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00" y="109886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4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результаты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 smtClean="0"/>
              <a:t>подготовлено </a:t>
            </a:r>
            <a:r>
              <a:rPr lang="ru-RU" sz="3000" dirty="0"/>
              <a:t>краткое описание выбранной задачи ИИ для каждого типа данных (таблицы, временные ряды, изображения, тексты);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/>
              <a:t>п</a:t>
            </a:r>
            <a:r>
              <a:rPr lang="ru-RU" sz="3000" dirty="0" smtClean="0"/>
              <a:t>одобраны и обоснован выбор наборов </a:t>
            </a:r>
            <a:r>
              <a:rPr lang="ru-RU" sz="3000" dirty="0"/>
              <a:t>данных из открытых </a:t>
            </a:r>
            <a:r>
              <a:rPr lang="ru-RU" sz="3000" dirty="0" smtClean="0"/>
              <a:t>источников;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 smtClean="0"/>
              <a:t>реализован </a:t>
            </a:r>
            <a:r>
              <a:rPr lang="ru-RU" sz="3000" dirty="0"/>
              <a:t>комплекс программ на языке Python </a:t>
            </a:r>
            <a:r>
              <a:rPr lang="ru-RU" sz="3000" dirty="0" smtClean="0"/>
              <a:t>для </a:t>
            </a:r>
            <a:r>
              <a:rPr lang="ru-RU" sz="3000" dirty="0"/>
              <a:t>первичного анализа;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 smtClean="0"/>
              <a:t>сформулированы </a:t>
            </a:r>
            <a:r>
              <a:rPr lang="ru-RU" sz="3000" dirty="0"/>
              <a:t>рекомендации по предобработке </a:t>
            </a:r>
            <a:r>
              <a:rPr lang="ru-RU" sz="3000" dirty="0" smtClean="0"/>
              <a:t>данных;</a:t>
            </a:r>
            <a:endParaRPr lang="ru-RU" sz="3000" dirty="0"/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3000" dirty="0" smtClean="0"/>
              <a:t>размещен исходный </a:t>
            </a:r>
            <a:r>
              <a:rPr lang="ru-RU" sz="3000" dirty="0"/>
              <a:t>код в </a:t>
            </a:r>
            <a:r>
              <a:rPr lang="ru-RU" sz="3000" dirty="0" smtClean="0"/>
              <a:t>Git-репозитории: </a:t>
            </a:r>
            <a:r>
              <a:rPr lang="en-US" sz="3000" dirty="0"/>
              <a:t>https://github.com/brylkinamariaz6z-arch/Course-Project</a:t>
            </a:r>
            <a:endParaRPr lang="ru-RU" sz="3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23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57276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500" dirty="0" smtClean="0"/>
              <a:t>Анализ табличных данных</a:t>
            </a:r>
            <a:endParaRPr lang="ru-RU" sz="35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24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813016"/>
              </p:ext>
            </p:extLst>
          </p:nvPr>
        </p:nvGraphicFramePr>
        <p:xfrm>
          <a:off x="85533" y="1045024"/>
          <a:ext cx="5531496" cy="515212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43832">
                  <a:extLst>
                    <a:ext uri="{9D8B030D-6E8A-4147-A177-3AD203B41FA5}">
                      <a16:colId xmlns:a16="http://schemas.microsoft.com/office/drawing/2014/main" val="3292447145"/>
                    </a:ext>
                  </a:extLst>
                </a:gridCol>
                <a:gridCol w="1843832">
                  <a:extLst>
                    <a:ext uri="{9D8B030D-6E8A-4147-A177-3AD203B41FA5}">
                      <a16:colId xmlns:a16="http://schemas.microsoft.com/office/drawing/2014/main" val="115171533"/>
                    </a:ext>
                  </a:extLst>
                </a:gridCol>
                <a:gridCol w="1843832">
                  <a:extLst>
                    <a:ext uri="{9D8B030D-6E8A-4147-A177-3AD203B41FA5}">
                      <a16:colId xmlns:a16="http://schemas.microsoft.com/office/drawing/2014/main" val="2966114205"/>
                    </a:ext>
                  </a:extLst>
                </a:gridCol>
              </a:tblGrid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Количество пропусков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Доля пропусков, 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0839142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HomePlanet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2,31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2169740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CryoSleep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217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2,50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9105896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Cabin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199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2,29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4903280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Destination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2,09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9355186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Age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179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2,06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3471467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VIP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2,34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2109342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RoomService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2,08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8144517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FoodCourt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2,11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843532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ShoppingMall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2,39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5018233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Spa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2,11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8772981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VRDeck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2,16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9882996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Name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2,30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8287741"/>
                  </a:ext>
                </a:extLst>
              </a:tr>
            </a:tbl>
          </a:graphicData>
        </a:graphic>
      </p:graphicFrame>
      <p:pic>
        <p:nvPicPr>
          <p:cNvPr id="13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7029" y="1045024"/>
            <a:ext cx="3865517" cy="3416444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55072"/>
              </p:ext>
            </p:extLst>
          </p:nvPr>
        </p:nvGraphicFramePr>
        <p:xfrm>
          <a:off x="9482546" y="1253859"/>
          <a:ext cx="2605374" cy="287582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02687">
                  <a:extLst>
                    <a:ext uri="{9D8B030D-6E8A-4147-A177-3AD203B41FA5}">
                      <a16:colId xmlns:a16="http://schemas.microsoft.com/office/drawing/2014/main" val="1196845101"/>
                    </a:ext>
                  </a:extLst>
                </a:gridCol>
                <a:gridCol w="1302687">
                  <a:extLst>
                    <a:ext uri="{9D8B030D-6E8A-4147-A177-3AD203B41FA5}">
                      <a16:colId xmlns:a16="http://schemas.microsoft.com/office/drawing/2014/main" val="3006426130"/>
                    </a:ext>
                  </a:extLst>
                </a:gridCol>
              </a:tblGrid>
              <a:tr h="53878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Признак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Количество выбросов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8734266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Age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162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699278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RoomService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1906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898306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FoodCourt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1916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3685569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ShoppingMall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1879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015097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Spa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1833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1682792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 VRDeck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1849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9767739"/>
                  </a:ext>
                </a:extLst>
              </a:tr>
            </a:tbl>
          </a:graphicData>
        </a:graphic>
      </p:graphicFrame>
      <p:pic>
        <p:nvPicPr>
          <p:cNvPr id="14" name="drawi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844" y="4461468"/>
            <a:ext cx="3573026" cy="181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0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временных рядов: </a:t>
            </a:r>
            <a:r>
              <a:rPr lang="ru-RU" dirty="0" smtClean="0"/>
              <a:t>статистика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25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060073"/>
              </p:ext>
            </p:extLst>
          </p:nvPr>
        </p:nvGraphicFramePr>
        <p:xfrm>
          <a:off x="1468733" y="1018720"/>
          <a:ext cx="9254533" cy="511792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93168">
                  <a:extLst>
                    <a:ext uri="{9D8B030D-6E8A-4147-A177-3AD203B41FA5}">
                      <a16:colId xmlns:a16="http://schemas.microsoft.com/office/drawing/2014/main" val="750178768"/>
                    </a:ext>
                  </a:extLst>
                </a:gridCol>
                <a:gridCol w="808800">
                  <a:extLst>
                    <a:ext uri="{9D8B030D-6E8A-4147-A177-3AD203B41FA5}">
                      <a16:colId xmlns:a16="http://schemas.microsoft.com/office/drawing/2014/main" val="384336362"/>
                    </a:ext>
                  </a:extLst>
                </a:gridCol>
                <a:gridCol w="1425768">
                  <a:extLst>
                    <a:ext uri="{9D8B030D-6E8A-4147-A177-3AD203B41FA5}">
                      <a16:colId xmlns:a16="http://schemas.microsoft.com/office/drawing/2014/main" val="1321996985"/>
                    </a:ext>
                  </a:extLst>
                </a:gridCol>
                <a:gridCol w="1197645">
                  <a:extLst>
                    <a:ext uri="{9D8B030D-6E8A-4147-A177-3AD203B41FA5}">
                      <a16:colId xmlns:a16="http://schemas.microsoft.com/office/drawing/2014/main" val="1071173922"/>
                    </a:ext>
                  </a:extLst>
                </a:gridCol>
                <a:gridCol w="668816">
                  <a:extLst>
                    <a:ext uri="{9D8B030D-6E8A-4147-A177-3AD203B41FA5}">
                      <a16:colId xmlns:a16="http://schemas.microsoft.com/office/drawing/2014/main" val="2280795074"/>
                    </a:ext>
                  </a:extLst>
                </a:gridCol>
                <a:gridCol w="782876">
                  <a:extLst>
                    <a:ext uri="{9D8B030D-6E8A-4147-A177-3AD203B41FA5}">
                      <a16:colId xmlns:a16="http://schemas.microsoft.com/office/drawing/2014/main" val="1245887875"/>
                    </a:ext>
                  </a:extLst>
                </a:gridCol>
                <a:gridCol w="824352">
                  <a:extLst>
                    <a:ext uri="{9D8B030D-6E8A-4147-A177-3AD203B41FA5}">
                      <a16:colId xmlns:a16="http://schemas.microsoft.com/office/drawing/2014/main" val="457472658"/>
                    </a:ext>
                  </a:extLst>
                </a:gridCol>
                <a:gridCol w="1026554">
                  <a:extLst>
                    <a:ext uri="{9D8B030D-6E8A-4147-A177-3AD203B41FA5}">
                      <a16:colId xmlns:a16="http://schemas.microsoft.com/office/drawing/2014/main" val="3595743143"/>
                    </a:ext>
                  </a:extLst>
                </a:gridCol>
                <a:gridCol w="1026554">
                  <a:extLst>
                    <a:ext uri="{9D8B030D-6E8A-4147-A177-3AD203B41FA5}">
                      <a16:colId xmlns:a16="http://schemas.microsoft.com/office/drawing/2014/main" val="680098422"/>
                    </a:ext>
                  </a:extLst>
                </a:gridCol>
              </a:tblGrid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Признак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count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mean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std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min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25%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50%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75%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max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898150999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CO(GT)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7674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2.15275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1.45325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0.1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1.1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1.8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11.9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772517231"/>
                  </a:ext>
                </a:extLst>
              </a:tr>
              <a:tr h="118945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PT08.S1(CO)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8991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1099.833166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217.08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647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937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1063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1231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2040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834584266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NMHC(GT)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914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218.811816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204.46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150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297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1189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1011439056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C6H6(GT)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8991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10.083105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7.45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0.1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8.2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63.7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463457163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NOx(GT)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7718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246.89673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212.98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180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326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1479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482062122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8991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18.317829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8.83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–1.9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11.8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17.8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24.4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44.6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734403260"/>
                  </a:ext>
                </a:extLst>
              </a:tr>
              <a:tr h="56120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8991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49.234201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17.32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9.2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35.8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49.6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62.5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88.7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1509315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35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Анализ временных </a:t>
            </a:r>
            <a:r>
              <a:rPr lang="ru-RU" sz="3200" dirty="0" smtClean="0"/>
              <a:t>рядов</a:t>
            </a:r>
            <a:endParaRPr lang="ru-RU" sz="3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26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pic>
        <p:nvPicPr>
          <p:cNvPr id="14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80947"/>
            <a:ext cx="6521380" cy="5393468"/>
          </a:xfrm>
          <a:prstGeom prst="rect">
            <a:avLst/>
          </a:prstGeom>
        </p:spPr>
      </p:pic>
      <p:pic>
        <p:nvPicPr>
          <p:cNvPr id="15" name="drawi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1379" y="880947"/>
            <a:ext cx="5566539" cy="3198684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93646"/>
              </p:ext>
            </p:extLst>
          </p:nvPr>
        </p:nvGraphicFramePr>
        <p:xfrm>
          <a:off x="7171278" y="4148435"/>
          <a:ext cx="4615438" cy="21259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587847">
                  <a:extLst>
                    <a:ext uri="{9D8B030D-6E8A-4147-A177-3AD203B41FA5}">
                      <a16:colId xmlns:a16="http://schemas.microsoft.com/office/drawing/2014/main" val="3920165004"/>
                    </a:ext>
                  </a:extLst>
                </a:gridCol>
                <a:gridCol w="2027591">
                  <a:extLst>
                    <a:ext uri="{9D8B030D-6E8A-4147-A177-3AD203B41FA5}">
                      <a16:colId xmlns:a16="http://schemas.microsoft.com/office/drawing/2014/main" val="3157553400"/>
                    </a:ext>
                  </a:extLst>
                </a:gridCol>
              </a:tblGrid>
              <a:tr h="1411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Пропуски, 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45780251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CO(GT)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17.99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9703454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PT08.S1(CO)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3.91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420731765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NMHC(GT)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90.23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45758044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C6H6(GT)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3.91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86786749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NOx(GT)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17.52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156988756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NO2(GT)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17.55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66331789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3.91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117468276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RH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3.91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76788022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AH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3.91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07440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51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текстовых данных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833505"/>
              </p:ext>
            </p:extLst>
          </p:nvPr>
        </p:nvGraphicFramePr>
        <p:xfrm>
          <a:off x="5496448" y="1172133"/>
          <a:ext cx="3432994" cy="315544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58551">
                  <a:extLst>
                    <a:ext uri="{9D8B030D-6E8A-4147-A177-3AD203B41FA5}">
                      <a16:colId xmlns:a16="http://schemas.microsoft.com/office/drawing/2014/main" val="572318291"/>
                    </a:ext>
                  </a:extLst>
                </a:gridCol>
                <a:gridCol w="1670482">
                  <a:extLst>
                    <a:ext uri="{9D8B030D-6E8A-4147-A177-3AD203B41FA5}">
                      <a16:colId xmlns:a16="http://schemas.microsoft.com/office/drawing/2014/main" val="3028302141"/>
                    </a:ext>
                  </a:extLst>
                </a:gridCol>
                <a:gridCol w="903961">
                  <a:extLst>
                    <a:ext uri="{9D8B030D-6E8A-4147-A177-3AD203B41FA5}">
                      <a16:colId xmlns:a16="http://schemas.microsoft.com/office/drawing/2014/main" val="1624596542"/>
                    </a:ext>
                  </a:extLst>
                </a:gridCol>
              </a:tblGrid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Класс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Количество примеров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Доля, %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2652293582"/>
                  </a:ext>
                </a:extLst>
              </a:tr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neutral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3 062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51,4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1591693166"/>
                  </a:ext>
                </a:extLst>
              </a:tr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negative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1 793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30,1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25377182"/>
                  </a:ext>
                </a:extLst>
              </a:tr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positive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669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11,2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531945262"/>
                  </a:ext>
                </a:extLst>
              </a:tr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mixed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437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25664549"/>
                  </a:ext>
                </a:extLst>
              </a:tr>
              <a:tr h="4847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Итого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5 961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/>
                </a:tc>
                <a:extLst>
                  <a:ext uri="{0D108BD9-81ED-4DB2-BD59-A6C34878D82A}">
                    <a16:rowId xmlns:a16="http://schemas.microsoft.com/office/drawing/2014/main" val="3340050809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FBCF-7873-4A49-B36C-1F912BB77786}" type="slidenum">
              <a:rPr lang="ru-RU" altLang="ru-RU" smtClean="0"/>
              <a:pPr/>
              <a:t>27</a:t>
            </a:fld>
            <a:r>
              <a:rPr lang="ru-RU" altLang="ru-RU" dirty="0" smtClean="0"/>
              <a:t>/27</a:t>
            </a:r>
            <a:endParaRPr lang="ru-RU" altLang="ru-RU" dirty="0"/>
          </a:p>
        </p:txBody>
      </p:sp>
      <p:pic>
        <p:nvPicPr>
          <p:cNvPr id="7" name="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344" y="1131131"/>
            <a:ext cx="5362104" cy="4887832"/>
          </a:xfrm>
          <a:prstGeom prst="rect">
            <a:avLst/>
          </a:prstGeom>
        </p:spPr>
      </p:pic>
      <p:pic>
        <p:nvPicPr>
          <p:cNvPr id="8" name="drawi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7773" y="4329459"/>
            <a:ext cx="3489960" cy="1887220"/>
          </a:xfrm>
          <a:prstGeom prst="rect">
            <a:avLst/>
          </a:prstGeom>
        </p:spPr>
      </p:pic>
      <p:pic>
        <p:nvPicPr>
          <p:cNvPr id="9" name="drawi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7733" y="1337239"/>
            <a:ext cx="3090186" cy="240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538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9968</TotalTime>
  <Words>2189</Words>
  <Application>Microsoft Office PowerPoint</Application>
  <PresentationFormat>Широкоэкранный</PresentationFormat>
  <Paragraphs>601</Paragraphs>
  <Slides>27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等线</vt:lpstr>
      <vt:lpstr>等线 Light</vt:lpstr>
      <vt:lpstr>Times New Roman</vt:lpstr>
      <vt:lpstr>Wingdings</vt:lpstr>
      <vt:lpstr>Тема Office</vt:lpstr>
      <vt:lpstr>Поиск и первичный анализ наборов данных  по различным областям применения</vt:lpstr>
      <vt:lpstr>Актуальность: необходимость первичного анализа</vt:lpstr>
      <vt:lpstr>Табличные данные: задача и описание данных</vt:lpstr>
      <vt:lpstr>Табличные данные: атрибуты</vt:lpstr>
      <vt:lpstr>Табличные данные: пример</vt:lpstr>
      <vt:lpstr>Анализ табличных данных</vt:lpstr>
      <vt:lpstr>Анализ табличных данных</vt:lpstr>
      <vt:lpstr>Временные ряды: задача и описание данных</vt:lpstr>
      <vt:lpstr>Временные ряды: визуализация</vt:lpstr>
      <vt:lpstr>Анализ временных рядов</vt:lpstr>
      <vt:lpstr>Анализ временных рядов</vt:lpstr>
      <vt:lpstr>Анализ временных рядов</vt:lpstr>
      <vt:lpstr>Изображения: задача и описание данных</vt:lpstr>
      <vt:lpstr>Анализ изображений</vt:lpstr>
      <vt:lpstr>Изображения: визуализация</vt:lpstr>
      <vt:lpstr>Изображения: сверточные нейронные сети </vt:lpstr>
      <vt:lpstr>Анализ изображений</vt:lpstr>
      <vt:lpstr>Текстовые данные: задача и описание данных</vt:lpstr>
      <vt:lpstr>Текстовые данные: визуализация</vt:lpstr>
      <vt:lpstr>Анализ текстовых данных</vt:lpstr>
      <vt:lpstr>Анализ текстовых данных</vt:lpstr>
      <vt:lpstr>Анализ текстовых данных</vt:lpstr>
      <vt:lpstr>Основные результаты</vt:lpstr>
      <vt:lpstr>Анализ табличных данных</vt:lpstr>
      <vt:lpstr>Анализ временных рядов: статистика</vt:lpstr>
      <vt:lpstr>Анализ временных рядов</vt:lpstr>
      <vt:lpstr>Анализ текстовых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Assistant</dc:creator>
  <cp:lastModifiedBy>Ratlemar</cp:lastModifiedBy>
  <cp:revision>726</cp:revision>
  <dcterms:created xsi:type="dcterms:W3CDTF">2020-05-09T18:58:00Z</dcterms:created>
  <dcterms:modified xsi:type="dcterms:W3CDTF">2026-06-09T20:40:30Z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C0E50868B26E49E4B9BCA8205F4B272E_13</vt:lpwstr>
  </property>
  <property fmtid="{D5CDD505-2E9C-101B-9397-08002B2CF9AE}" pid="3" name="KSOProductBuildVer">
    <vt:lpwstr>1049-12.2.0.17119</vt:lpwstr>
  </property>
</Properties>
</file>